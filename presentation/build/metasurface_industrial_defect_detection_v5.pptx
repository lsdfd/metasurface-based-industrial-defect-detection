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Relationship Id="rId4" Type="http://schemas.openxmlformats.org/officeDocument/2006/relationships/image" Target="../media/image30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417320"/>
            <a:ext cx="10287000" cy="7772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3000" b="1">
                <a:solidFill>
                  <a:srgbClr val="163A6C"/>
                </a:solidFill>
                <a:latin typeface="Arial"/>
              </a:rPr>
              <a:t>超表面光学前端辅助的工业缺陷检测方法研究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2331720"/>
            <a:ext cx="969264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0">
                <a:solidFill>
                  <a:srgbClr val="24324A"/>
                </a:solidFill>
                <a:latin typeface="Arial"/>
              </a:rPr>
              <a:t>Metasurface-based Optical Frontend for Industrial Defect Detection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2103120" y="3063240"/>
            <a:ext cx="8001000" cy="22860"/>
          </a:xfrm>
          <a:prstGeom prst="rect">
            <a:avLst/>
          </a:prstGeom>
          <a:solidFill>
            <a:srgbClr val="16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0" y="3794760"/>
            <a:ext cx="393192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2000" b="1">
                <a:solidFill>
                  <a:srgbClr val="163A6C"/>
                </a:solidFill>
                <a:latin typeface="Arial"/>
              </a:rPr>
              <a:t>李升欣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0" y="4370832"/>
            <a:ext cx="44805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0">
                <a:solidFill>
                  <a:srgbClr val="24324A"/>
                </a:solidFill>
                <a:latin typeface="Arial"/>
              </a:rPr>
              <a:t>2026年5月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5943600"/>
            <a:ext cx="9966960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5F6F84"/>
                </a:solidFill>
                <a:latin typeface="Arial"/>
              </a:rPr>
              <a:t>Fabric 二分类验证  |  DAGM / SegDecNet 分割闭环  |  Kernel-to-PSF 物理映射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69264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100" b="1">
                <a:solidFill>
                  <a:srgbClr val="163A6C"/>
                </a:solidFill>
                <a:latin typeface="Arial"/>
              </a:rPr>
              <a:t>背景：工业检测计算瓶颈与超表面视觉前端机会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265176"/>
            <a:ext cx="16002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900" b="0">
                <a:solidFill>
                  <a:srgbClr val="5F6F84"/>
                </a:solidFill>
                <a:latin typeface="Arial"/>
              </a:rPr>
              <a:t>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04672"/>
            <a:ext cx="11201400" cy="22860"/>
          </a:xfrm>
          <a:prstGeom prst="rect">
            <a:avLst/>
          </a:prstGeom>
          <a:solidFill>
            <a:srgbClr val="16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6272784"/>
            <a:ext cx="11201400" cy="347472"/>
          </a:xfrm>
          <a:prstGeom prst="roundRect">
            <a:avLst/>
          </a:prstGeom>
          <a:solidFill>
            <a:srgbClr val="EDF3FC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00216"/>
            <a:ext cx="10881360" cy="2834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63A6C"/>
                </a:solidFill>
                <a:latin typeface="Arial"/>
              </a:rPr>
              <a:t>工业质检需要高速低功耗视觉前端，超表面提供了把早期卷积前移到成像链路的入口。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987552"/>
            <a:ext cx="11018520" cy="5074920"/>
          </a:xfrm>
          <a:prstGeom prst="roundRect">
            <a:avLst/>
          </a:prstGeom>
          <a:solidFill>
            <a:srgbClr val="FFFFFF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v4_background_infograph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1079" y="1042416"/>
            <a:ext cx="8885080" cy="496519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69264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100" b="1">
                <a:solidFill>
                  <a:srgbClr val="163A6C"/>
                </a:solidFill>
                <a:latin typeface="Arial"/>
              </a:rPr>
              <a:t>总体方法：传统电子模型到光电融合 student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265176"/>
            <a:ext cx="16002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900" b="0">
                <a:solidFill>
                  <a:srgbClr val="5F6F84"/>
                </a:solidFill>
                <a:latin typeface="Arial"/>
              </a:rPr>
              <a:t>方法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04672"/>
            <a:ext cx="11201400" cy="22860"/>
          </a:xfrm>
          <a:prstGeom prst="rect">
            <a:avLst/>
          </a:prstGeom>
          <a:solidFill>
            <a:srgbClr val="16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6272784"/>
            <a:ext cx="11201400" cy="347472"/>
          </a:xfrm>
          <a:prstGeom prst="roundRect">
            <a:avLst/>
          </a:prstGeom>
          <a:solidFill>
            <a:srgbClr val="EDF3FC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00216"/>
            <a:ext cx="10881360" cy="2834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63A6C"/>
                </a:solidFill>
                <a:latin typeface="Arial"/>
              </a:rPr>
              <a:t>主线是 teacher 蒸馏、optical student、kernel-to-PSF 和轻量电子后端。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987552"/>
            <a:ext cx="11018520" cy="5074920"/>
          </a:xfrm>
          <a:prstGeom prst="roundRect">
            <a:avLst/>
          </a:prstGeom>
          <a:solidFill>
            <a:srgbClr val="FFFFFF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v4_methodology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1079" y="1042416"/>
            <a:ext cx="8885080" cy="496519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69264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100" b="1">
                <a:solidFill>
                  <a:srgbClr val="163A6C"/>
                </a:solidFill>
                <a:latin typeface="Arial"/>
              </a:rPr>
              <a:t>光电融合系统：metasurface + CMOS + electronic backend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265176"/>
            <a:ext cx="16002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900" b="0">
                <a:solidFill>
                  <a:srgbClr val="5F6F84"/>
                </a:solidFill>
                <a:latin typeface="Arial"/>
              </a:rPr>
              <a:t>方法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04672"/>
            <a:ext cx="11201400" cy="22860"/>
          </a:xfrm>
          <a:prstGeom prst="rect">
            <a:avLst/>
          </a:prstGeom>
          <a:solidFill>
            <a:srgbClr val="16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6272784"/>
            <a:ext cx="11201400" cy="347472"/>
          </a:xfrm>
          <a:prstGeom prst="roundRect">
            <a:avLst/>
          </a:prstGeom>
          <a:solidFill>
            <a:srgbClr val="EDF3FC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00216"/>
            <a:ext cx="10881360" cy="2834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63A6C"/>
                </a:solidFill>
                <a:latin typeface="Arial"/>
              </a:rPr>
              <a:t>超表面承担早期光学卷积，电子后端负责 calibration、非线性和任务输出。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987552"/>
            <a:ext cx="11018520" cy="5074920"/>
          </a:xfrm>
          <a:prstGeom prst="roundRect">
            <a:avLst/>
          </a:prstGeom>
          <a:solidFill>
            <a:srgbClr val="FFFFFF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v4_hybrid_optical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1079" y="1042416"/>
            <a:ext cx="8885080" cy="496519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69264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100" b="1">
                <a:solidFill>
                  <a:srgbClr val="163A6C"/>
                </a:solidFill>
                <a:latin typeface="Arial"/>
              </a:rPr>
              <a:t>知识蒸馏机制：对齐 score、mask 与 feature volume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265176"/>
            <a:ext cx="16002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900" b="0">
                <a:solidFill>
                  <a:srgbClr val="5F6F84"/>
                </a:solidFill>
                <a:latin typeface="Arial"/>
              </a:rPr>
              <a:t>方法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04672"/>
            <a:ext cx="11201400" cy="22860"/>
          </a:xfrm>
          <a:prstGeom prst="rect">
            <a:avLst/>
          </a:prstGeom>
          <a:solidFill>
            <a:srgbClr val="16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6272784"/>
            <a:ext cx="11201400" cy="347472"/>
          </a:xfrm>
          <a:prstGeom prst="roundRect">
            <a:avLst/>
          </a:prstGeom>
          <a:solidFill>
            <a:srgbClr val="EDF3FC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00216"/>
            <a:ext cx="10881360" cy="2834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63A6C"/>
                </a:solidFill>
                <a:latin typeface="Arial"/>
              </a:rPr>
              <a:t>蒸馏把强电子 teacher 的任务能力迁移到受物理约束的 optical student。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987552"/>
            <a:ext cx="11018520" cy="4370832"/>
          </a:xfrm>
          <a:prstGeom prst="roundRect">
            <a:avLst/>
          </a:prstGeom>
          <a:solidFill>
            <a:srgbClr val="FFFFFF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v4_distillation_mechanis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1053" y="1042416"/>
            <a:ext cx="7625133" cy="4261104"/>
          </a:xfrm>
          <a:prstGeom prst="rect">
            <a:avLst/>
          </a:prstGeom>
        </p:spPr>
      </p:pic>
      <p:pic>
        <p:nvPicPr>
          <p:cNvPr id="9" name="Picture 8" descr="v3_kd_lo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8430" y="5440680"/>
            <a:ext cx="491037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69264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100" b="1">
                <a:solidFill>
                  <a:srgbClr val="163A6C"/>
                </a:solidFill>
                <a:latin typeface="Arial"/>
              </a:rPr>
              <a:t>Kernel-to-PSF：从 signed kernel 到超表面可实现目标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265176"/>
            <a:ext cx="16002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900" b="0">
                <a:solidFill>
                  <a:srgbClr val="5F6F84"/>
                </a:solidFill>
                <a:latin typeface="Arial"/>
              </a:rPr>
              <a:t>方法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04672"/>
            <a:ext cx="11201400" cy="22860"/>
          </a:xfrm>
          <a:prstGeom prst="rect">
            <a:avLst/>
          </a:prstGeom>
          <a:solidFill>
            <a:srgbClr val="16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6272784"/>
            <a:ext cx="11201400" cy="347472"/>
          </a:xfrm>
          <a:prstGeom prst="roundRect">
            <a:avLst/>
          </a:prstGeom>
          <a:solidFill>
            <a:srgbClr val="EDF3FC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00216"/>
            <a:ext cx="10881360" cy="2834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63A6C"/>
                </a:solidFill>
                <a:latin typeface="Arial"/>
              </a:rPr>
              <a:t>正负拆分是把含符号卷积核映射到非负光强 PSF 的关键步骤。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987552"/>
            <a:ext cx="11018520" cy="4370832"/>
          </a:xfrm>
          <a:prstGeom prst="roundRect">
            <a:avLst/>
          </a:prstGeom>
          <a:solidFill>
            <a:srgbClr val="FFFFFF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v4_kernel_to_ps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1053" y="1042416"/>
            <a:ext cx="7625133" cy="4261104"/>
          </a:xfrm>
          <a:prstGeom prst="rect">
            <a:avLst/>
          </a:prstGeom>
        </p:spPr>
      </p:pic>
      <p:pic>
        <p:nvPicPr>
          <p:cNvPr id="9" name="Picture 8" descr="v3_kernel_spl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6845" y="5440680"/>
            <a:ext cx="515354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69264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100" b="1">
                <a:solidFill>
                  <a:srgbClr val="163A6C"/>
                </a:solidFill>
                <a:latin typeface="Arial"/>
              </a:rPr>
              <a:t>PSF-to-Phase：由目标光强反演相位分布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265176"/>
            <a:ext cx="16002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900" b="0">
                <a:solidFill>
                  <a:srgbClr val="5F6F84"/>
                </a:solidFill>
                <a:latin typeface="Arial"/>
              </a:rPr>
              <a:t>方法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04672"/>
            <a:ext cx="11201400" cy="22860"/>
          </a:xfrm>
          <a:prstGeom prst="rect">
            <a:avLst/>
          </a:prstGeom>
          <a:solidFill>
            <a:srgbClr val="16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6272784"/>
            <a:ext cx="11201400" cy="347472"/>
          </a:xfrm>
          <a:prstGeom prst="roundRect">
            <a:avLst/>
          </a:prstGeom>
          <a:solidFill>
            <a:srgbClr val="EDF3FC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00216"/>
            <a:ext cx="10881360" cy="2834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63A6C"/>
                </a:solidFill>
                <a:latin typeface="Arial"/>
              </a:rPr>
              <a:t>目标 PSF 首先被转化为相位型光学元件的优化问题。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987552"/>
            <a:ext cx="11018520" cy="5074920"/>
          </a:xfrm>
          <a:prstGeom prst="roundRect">
            <a:avLst/>
          </a:prstGeom>
          <a:solidFill>
            <a:srgbClr val="FFFFFF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v5_psf_to_phase_inverse_desig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1079" y="1042416"/>
            <a:ext cx="8885080" cy="496519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69264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100" b="1">
                <a:solidFill>
                  <a:srgbClr val="163A6C"/>
                </a:solidFill>
                <a:latin typeface="Arial"/>
              </a:rPr>
              <a:t>Phase Optimization：角谱传播与迭代优化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265176"/>
            <a:ext cx="16002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900" b="0">
                <a:solidFill>
                  <a:srgbClr val="5F6F84"/>
                </a:solidFill>
                <a:latin typeface="Arial"/>
              </a:rPr>
              <a:t>方法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04672"/>
            <a:ext cx="11201400" cy="22860"/>
          </a:xfrm>
          <a:prstGeom prst="rect">
            <a:avLst/>
          </a:prstGeom>
          <a:solidFill>
            <a:srgbClr val="16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6272784"/>
            <a:ext cx="11201400" cy="347472"/>
          </a:xfrm>
          <a:prstGeom prst="roundRect">
            <a:avLst/>
          </a:prstGeom>
          <a:solidFill>
            <a:srgbClr val="EDF3FC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00216"/>
            <a:ext cx="10881360" cy="2834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63A6C"/>
                </a:solidFill>
                <a:latin typeface="Arial"/>
              </a:rPr>
              <a:t>角谱法把相位分布和远端 PSF 连接起来，使 PSF 设计可以梯度优化。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987552"/>
            <a:ext cx="11018520" cy="5074920"/>
          </a:xfrm>
          <a:prstGeom prst="roundRect">
            <a:avLst/>
          </a:prstGeom>
          <a:solidFill>
            <a:srgbClr val="FFFFFF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v5_angular_spectrum_lo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1079" y="1042416"/>
            <a:ext cx="8885080" cy="496519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69264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100" b="1">
                <a:solidFill>
                  <a:srgbClr val="163A6C"/>
                </a:solidFill>
                <a:latin typeface="Arial"/>
              </a:rPr>
              <a:t>Phase-to-Geometry：RCWA 建立相位-结构参数查找表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265176"/>
            <a:ext cx="16002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900" b="0">
                <a:solidFill>
                  <a:srgbClr val="5F6F84"/>
                </a:solidFill>
                <a:latin typeface="Arial"/>
              </a:rPr>
              <a:t>方法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04672"/>
            <a:ext cx="11201400" cy="22860"/>
          </a:xfrm>
          <a:prstGeom prst="rect">
            <a:avLst/>
          </a:prstGeom>
          <a:solidFill>
            <a:srgbClr val="16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6272784"/>
            <a:ext cx="11201400" cy="347472"/>
          </a:xfrm>
          <a:prstGeom prst="roundRect">
            <a:avLst/>
          </a:prstGeom>
          <a:solidFill>
            <a:srgbClr val="EDF3FC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00216"/>
            <a:ext cx="10881360" cy="2834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63A6C"/>
                </a:solidFill>
                <a:latin typeface="Arial"/>
              </a:rPr>
              <a:t>RCWA lookup table 将连续相位目标离散为可制造的纳米柱几何参数。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987552"/>
            <a:ext cx="11018520" cy="5074920"/>
          </a:xfrm>
          <a:prstGeom prst="roundRect">
            <a:avLst/>
          </a:prstGeom>
          <a:solidFill>
            <a:srgbClr val="FFFFFF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v5_rcwa_phase_geometry_loo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1079" y="1042416"/>
            <a:ext cx="8885080" cy="496519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69264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100" b="1">
                <a:solidFill>
                  <a:srgbClr val="163A6C"/>
                </a:solidFill>
                <a:latin typeface="Arial"/>
              </a:rPr>
              <a:t>Metasurface Layout：材料、周期与结构参数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265176"/>
            <a:ext cx="16002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900" b="0">
                <a:solidFill>
                  <a:srgbClr val="5F6F84"/>
                </a:solidFill>
                <a:latin typeface="Arial"/>
              </a:rPr>
              <a:t>方法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04672"/>
            <a:ext cx="11201400" cy="22860"/>
          </a:xfrm>
          <a:prstGeom prst="rect">
            <a:avLst/>
          </a:prstGeom>
          <a:solidFill>
            <a:srgbClr val="16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6272784"/>
            <a:ext cx="11201400" cy="347472"/>
          </a:xfrm>
          <a:prstGeom prst="roundRect">
            <a:avLst/>
          </a:prstGeom>
          <a:solidFill>
            <a:srgbClr val="EDF3FC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00216"/>
            <a:ext cx="10881360" cy="2834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63A6C"/>
                </a:solidFill>
                <a:latin typeface="Arial"/>
              </a:rPr>
              <a:t>最终设计结果不是抽象相位图，而是一组可制造单元结构参数和周期布局。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987552"/>
            <a:ext cx="11018520" cy="5074920"/>
          </a:xfrm>
          <a:prstGeom prst="roundRect">
            <a:avLst/>
          </a:prstGeom>
          <a:solidFill>
            <a:srgbClr val="FFFFFF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v5_metasurface_layout_parame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1079" y="1042416"/>
            <a:ext cx="8885080" cy="496519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69264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100" b="1">
                <a:solidFill>
                  <a:srgbClr val="163A6C"/>
                </a:solidFill>
                <a:latin typeface="Arial"/>
              </a:rPr>
              <a:t>两个案例：Fabric 二分类与 DAGM 像素级分割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265176"/>
            <a:ext cx="16002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900" b="0">
                <a:solidFill>
                  <a:srgbClr val="5F6F84"/>
                </a:solidFill>
                <a:latin typeface="Arial"/>
              </a:rPr>
              <a:t>方法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04672"/>
            <a:ext cx="11201400" cy="22860"/>
          </a:xfrm>
          <a:prstGeom prst="rect">
            <a:avLst/>
          </a:prstGeom>
          <a:solidFill>
            <a:srgbClr val="16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6272784"/>
            <a:ext cx="11201400" cy="347472"/>
          </a:xfrm>
          <a:prstGeom prst="roundRect">
            <a:avLst/>
          </a:prstGeom>
          <a:solidFill>
            <a:srgbClr val="EDF3FC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00216"/>
            <a:ext cx="10881360" cy="2834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63A6C"/>
                </a:solidFill>
                <a:latin typeface="Arial"/>
              </a:rPr>
              <a:t>Fabric 是方法起点，DAGM 是高性能分割和物理映射闭环。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987552"/>
            <a:ext cx="11018520" cy="5074920"/>
          </a:xfrm>
          <a:prstGeom prst="roundRect">
            <a:avLst/>
          </a:prstGeom>
          <a:solidFill>
            <a:srgbClr val="FFFFFF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v4_case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1079" y="1042416"/>
            <a:ext cx="8885080" cy="496519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69264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100" b="1">
                <a:solidFill>
                  <a:srgbClr val="163A6C"/>
                </a:solidFill>
                <a:latin typeface="Arial"/>
              </a:rPr>
              <a:t>Fabric / AITEX：织物 patch 缺陷二分类任务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265176"/>
            <a:ext cx="16002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900" b="0">
                <a:solidFill>
                  <a:srgbClr val="5F6F84"/>
                </a:solidFill>
                <a:latin typeface="Arial"/>
              </a:rPr>
              <a:t>Fabric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04672"/>
            <a:ext cx="11201400" cy="22860"/>
          </a:xfrm>
          <a:prstGeom prst="rect">
            <a:avLst/>
          </a:prstGeom>
          <a:solidFill>
            <a:srgbClr val="16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6272784"/>
            <a:ext cx="11201400" cy="347472"/>
          </a:xfrm>
          <a:prstGeom prst="roundRect">
            <a:avLst/>
          </a:prstGeom>
          <a:solidFill>
            <a:srgbClr val="EDF3FC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00216"/>
            <a:ext cx="10881360" cy="2834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63A6C"/>
                </a:solidFill>
                <a:latin typeface="Arial"/>
              </a:rPr>
              <a:t>Fabric 检测织物 patch 是否存在缺陷，不输出具体缺陷位置。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987552"/>
            <a:ext cx="11018520" cy="5074920"/>
          </a:xfrm>
          <a:prstGeom prst="roundRect">
            <a:avLst/>
          </a:prstGeom>
          <a:solidFill>
            <a:srgbClr val="FFFFFF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v4_case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1079" y="1042416"/>
            <a:ext cx="8885080" cy="496519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69264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100" b="1">
                <a:solidFill>
                  <a:srgbClr val="163A6C"/>
                </a:solidFill>
                <a:latin typeface="Arial"/>
              </a:rPr>
              <a:t>Fabric teacher/student 架构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265176"/>
            <a:ext cx="16002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900" b="0">
                <a:solidFill>
                  <a:srgbClr val="5F6F84"/>
                </a:solidFill>
                <a:latin typeface="Arial"/>
              </a:rPr>
              <a:t>Fabric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04672"/>
            <a:ext cx="11201400" cy="22860"/>
          </a:xfrm>
          <a:prstGeom prst="rect">
            <a:avLst/>
          </a:prstGeom>
          <a:solidFill>
            <a:srgbClr val="16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6272784"/>
            <a:ext cx="11201400" cy="347472"/>
          </a:xfrm>
          <a:prstGeom prst="roundRect">
            <a:avLst/>
          </a:prstGeom>
          <a:solidFill>
            <a:srgbClr val="EDF3FC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00216"/>
            <a:ext cx="10881360" cy="2834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63A6C"/>
                </a:solidFill>
                <a:latin typeface="Arial"/>
              </a:rPr>
              <a:t>R1 student 使用 64×64 输入和一层 optical convolution bank 学习二分类判别。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987552"/>
            <a:ext cx="11018520" cy="5074920"/>
          </a:xfrm>
          <a:prstGeom prst="roundRect">
            <a:avLst/>
          </a:prstGeom>
          <a:solidFill>
            <a:srgbClr val="FFFFFF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v4_fabric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1079" y="1042416"/>
            <a:ext cx="8885080" cy="496519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69264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100" b="1">
                <a:solidFill>
                  <a:srgbClr val="163A6C"/>
                </a:solidFill>
                <a:latin typeface="Arial"/>
              </a:rPr>
              <a:t>Fabric 主结果与阈值校准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265176"/>
            <a:ext cx="16002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900" b="0">
                <a:solidFill>
                  <a:srgbClr val="5F6F84"/>
                </a:solidFill>
                <a:latin typeface="Arial"/>
              </a:rPr>
              <a:t>Fabric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04672"/>
            <a:ext cx="11201400" cy="22860"/>
          </a:xfrm>
          <a:prstGeom prst="rect">
            <a:avLst/>
          </a:prstGeom>
          <a:solidFill>
            <a:srgbClr val="16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6272784"/>
            <a:ext cx="11201400" cy="347472"/>
          </a:xfrm>
          <a:prstGeom prst="roundRect">
            <a:avLst/>
          </a:prstGeom>
          <a:solidFill>
            <a:srgbClr val="EDF3FC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00216"/>
            <a:ext cx="10881360" cy="2834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63A6C"/>
                </a:solidFill>
                <a:latin typeface="Arial"/>
              </a:rPr>
              <a:t>R1 student 在最佳阈值下 F1=0.8571，但部署前必须做阈值校准。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051560"/>
            <a:ext cx="534924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abric_teacher_student_summary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" y="1869710"/>
            <a:ext cx="5239512" cy="3255739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263640" y="1051560"/>
            <a:ext cx="534924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abric_r1_threshold_sto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8504" y="1831979"/>
            <a:ext cx="5239512" cy="333120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69264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100" b="1">
                <a:solidFill>
                  <a:srgbClr val="163A6C"/>
                </a:solidFill>
                <a:latin typeface="Arial"/>
              </a:rPr>
              <a:t>Fabric 指标表：teacher、默认阈值和最佳阈值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265176"/>
            <a:ext cx="16002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900" b="0">
                <a:solidFill>
                  <a:srgbClr val="5F6F84"/>
                </a:solidFill>
                <a:latin typeface="Arial"/>
              </a:rPr>
              <a:t>Fabric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04672"/>
            <a:ext cx="11201400" cy="22860"/>
          </a:xfrm>
          <a:prstGeom prst="rect">
            <a:avLst/>
          </a:prstGeom>
          <a:solidFill>
            <a:srgbClr val="16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6272784"/>
            <a:ext cx="11201400" cy="347472"/>
          </a:xfrm>
          <a:prstGeom prst="roundRect">
            <a:avLst/>
          </a:prstGeom>
          <a:solidFill>
            <a:srgbClr val="EDF3FC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00216"/>
            <a:ext cx="10881360" cy="2834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63A6C"/>
                </a:solidFill>
                <a:latin typeface="Arial"/>
              </a:rPr>
              <a:t>默认阈值会低估 student，最佳阈值下模型已具备作为 optical frontend 原型的价值。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987552"/>
            <a:ext cx="11018520" cy="5074920"/>
          </a:xfrm>
          <a:prstGeom prst="roundRect">
            <a:avLst/>
          </a:prstGeom>
          <a:solidFill>
            <a:srgbClr val="FFFFFF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v3_fabric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" y="2514434"/>
            <a:ext cx="10908792" cy="202115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69264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100" b="1">
                <a:solidFill>
                  <a:srgbClr val="163A6C"/>
                </a:solidFill>
                <a:latin typeface="Arial"/>
              </a:rPr>
              <a:t>Fabric optical kernels：signed / positive / negative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265176"/>
            <a:ext cx="16002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900" b="0">
                <a:solidFill>
                  <a:srgbClr val="5F6F84"/>
                </a:solidFill>
                <a:latin typeface="Arial"/>
              </a:rPr>
              <a:t>Fabric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04672"/>
            <a:ext cx="11201400" cy="22860"/>
          </a:xfrm>
          <a:prstGeom prst="rect">
            <a:avLst/>
          </a:prstGeom>
          <a:solidFill>
            <a:srgbClr val="16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6272784"/>
            <a:ext cx="11201400" cy="347472"/>
          </a:xfrm>
          <a:prstGeom prst="roundRect">
            <a:avLst/>
          </a:prstGeom>
          <a:solidFill>
            <a:srgbClr val="EDF3FC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00216"/>
            <a:ext cx="10881360" cy="2834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63A6C"/>
                </a:solidFill>
                <a:latin typeface="Arial"/>
              </a:rPr>
              <a:t>Fabric kernels 已完成正负拆分，可进入 metasurface PSF target 链路。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34440"/>
            <a:ext cx="370332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kernel_grid_sig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" y="1556012"/>
            <a:ext cx="3593592" cy="3700255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251960" y="1234440"/>
            <a:ext cx="370332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kernel_grid_positi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6824" y="1556012"/>
            <a:ext cx="3593592" cy="3700255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001000" y="1234440"/>
            <a:ext cx="370332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kernel_grid_negativ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5864" y="1556012"/>
            <a:ext cx="3593592" cy="370025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69264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100" b="1">
                <a:solidFill>
                  <a:srgbClr val="163A6C"/>
                </a:solidFill>
                <a:latin typeface="Arial"/>
              </a:rPr>
              <a:t>Fabric 计算量节省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265176"/>
            <a:ext cx="16002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900" b="0">
                <a:solidFill>
                  <a:srgbClr val="5F6F84"/>
                </a:solidFill>
                <a:latin typeface="Arial"/>
              </a:rPr>
              <a:t>Fabric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04672"/>
            <a:ext cx="11201400" cy="22860"/>
          </a:xfrm>
          <a:prstGeom prst="rect">
            <a:avLst/>
          </a:prstGeom>
          <a:solidFill>
            <a:srgbClr val="16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6272784"/>
            <a:ext cx="11201400" cy="347472"/>
          </a:xfrm>
          <a:prstGeom prst="roundRect">
            <a:avLst/>
          </a:prstGeom>
          <a:solidFill>
            <a:srgbClr val="EDF3FC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00216"/>
            <a:ext cx="10881360" cy="2834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63A6C"/>
                </a:solidFill>
                <a:latin typeface="Arial"/>
              </a:rPr>
              <a:t>Fabric teacher 到 student 约 175× 参数减少、约 99.5× MAC 减少。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987552"/>
            <a:ext cx="11018520" cy="5074920"/>
          </a:xfrm>
          <a:prstGeom prst="roundRect">
            <a:avLst/>
          </a:prstGeom>
          <a:solidFill>
            <a:srgbClr val="FFFFFF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abric_compute_comparison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" y="1210579"/>
            <a:ext cx="10908792" cy="462886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69264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100" b="1">
                <a:solidFill>
                  <a:srgbClr val="163A6C"/>
                </a:solidFill>
                <a:latin typeface="Arial"/>
              </a:rPr>
              <a:t>Fabric 补充资产：teacher confusion matrix / demo UI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265176"/>
            <a:ext cx="16002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900" b="0">
                <a:solidFill>
                  <a:srgbClr val="5F6F84"/>
                </a:solidFill>
                <a:latin typeface="Arial"/>
              </a:rPr>
              <a:t>Fabric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04672"/>
            <a:ext cx="11201400" cy="22860"/>
          </a:xfrm>
          <a:prstGeom prst="rect">
            <a:avLst/>
          </a:prstGeom>
          <a:solidFill>
            <a:srgbClr val="16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6272784"/>
            <a:ext cx="11201400" cy="347472"/>
          </a:xfrm>
          <a:prstGeom prst="roundRect">
            <a:avLst/>
          </a:prstGeom>
          <a:solidFill>
            <a:srgbClr val="EDF3FC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00216"/>
            <a:ext cx="10881360" cy="2834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63A6C"/>
                </a:solidFill>
                <a:latin typeface="Arial"/>
              </a:rPr>
              <a:t>Fabric 补充图用于说明原二分类链路和可视化界面，不作为最终主结果。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987552"/>
            <a:ext cx="11018520" cy="5074920"/>
          </a:xfrm>
          <a:prstGeom prst="roundRect">
            <a:avLst/>
          </a:prstGeom>
          <a:solidFill>
            <a:srgbClr val="FFFFFF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abric_teacher_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7686" y="1042416"/>
            <a:ext cx="5591866" cy="4965192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69264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100" b="1">
                <a:solidFill>
                  <a:srgbClr val="163A6C"/>
                </a:solidFill>
                <a:latin typeface="Arial"/>
              </a:rPr>
              <a:t>DAGM Class7：工业纹理缺陷分类 + 像素级分割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265176"/>
            <a:ext cx="16002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900" b="0">
                <a:solidFill>
                  <a:srgbClr val="5F6F84"/>
                </a:solidFill>
                <a:latin typeface="Arial"/>
              </a:rPr>
              <a:t>DAGM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04672"/>
            <a:ext cx="11201400" cy="22860"/>
          </a:xfrm>
          <a:prstGeom prst="rect">
            <a:avLst/>
          </a:prstGeom>
          <a:solidFill>
            <a:srgbClr val="16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6272784"/>
            <a:ext cx="11201400" cy="347472"/>
          </a:xfrm>
          <a:prstGeom prst="roundRect">
            <a:avLst/>
          </a:prstGeom>
          <a:solidFill>
            <a:srgbClr val="EDF3FC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00216"/>
            <a:ext cx="10881360" cy="2834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63A6C"/>
                </a:solidFill>
                <a:latin typeface="Arial"/>
              </a:rPr>
              <a:t>DAGM 不只判断有没有缺陷，还输出 pixel-level defect mask，是当前主结果。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987552"/>
            <a:ext cx="11018520" cy="5074920"/>
          </a:xfrm>
          <a:prstGeom prst="roundRect">
            <a:avLst/>
          </a:prstGeom>
          <a:solidFill>
            <a:srgbClr val="FFFFFF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v4_case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1079" y="1042416"/>
            <a:ext cx="8885080" cy="4965192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69264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100" b="1">
                <a:solidFill>
                  <a:srgbClr val="163A6C"/>
                </a:solidFill>
                <a:latin typeface="Arial"/>
              </a:rPr>
              <a:t>DAGM teacher/student 架构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265176"/>
            <a:ext cx="16002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900" b="0">
                <a:solidFill>
                  <a:srgbClr val="5F6F84"/>
                </a:solidFill>
                <a:latin typeface="Arial"/>
              </a:rPr>
              <a:t>DAGM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04672"/>
            <a:ext cx="11201400" cy="22860"/>
          </a:xfrm>
          <a:prstGeom prst="rect">
            <a:avLst/>
          </a:prstGeom>
          <a:solidFill>
            <a:srgbClr val="16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6272784"/>
            <a:ext cx="11201400" cy="347472"/>
          </a:xfrm>
          <a:prstGeom prst="roundRect">
            <a:avLst/>
          </a:prstGeom>
          <a:solidFill>
            <a:srgbClr val="EDF3FC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00216"/>
            <a:ext cx="10881360" cy="2834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63A6C"/>
                </a:solidFill>
                <a:latin typeface="Arial"/>
              </a:rPr>
              <a:t>Student 保留 SegDecNet-style 电子后端，把早期 volume 前端替换为 optical convolution bank。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987552"/>
            <a:ext cx="11018520" cy="5074920"/>
          </a:xfrm>
          <a:prstGeom prst="roundRect">
            <a:avLst/>
          </a:prstGeom>
          <a:solidFill>
            <a:srgbClr val="FFFFFF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v4_dagm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1079" y="1042416"/>
            <a:ext cx="8885080" cy="4965192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69264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100" b="1">
                <a:solidFill>
                  <a:srgbClr val="163A6C"/>
                </a:solidFill>
                <a:latin typeface="Arial"/>
              </a:rPr>
              <a:t>DAGM 两阶段蒸馏训练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265176"/>
            <a:ext cx="16002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900" b="0">
                <a:solidFill>
                  <a:srgbClr val="5F6F84"/>
                </a:solidFill>
                <a:latin typeface="Arial"/>
              </a:rPr>
              <a:t>DAGM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04672"/>
            <a:ext cx="11201400" cy="22860"/>
          </a:xfrm>
          <a:prstGeom prst="rect">
            <a:avLst/>
          </a:prstGeom>
          <a:solidFill>
            <a:srgbClr val="16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6272784"/>
            <a:ext cx="11201400" cy="347472"/>
          </a:xfrm>
          <a:prstGeom prst="roundRect">
            <a:avLst/>
          </a:prstGeom>
          <a:solidFill>
            <a:srgbClr val="EDF3FC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00216"/>
            <a:ext cx="10881360" cy="2834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63A6C"/>
                </a:solidFill>
                <a:latin typeface="Arial"/>
              </a:rPr>
              <a:t>先强化 volume/segmentation 对齐，再联合优化分类、分割和任务损失。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987552"/>
            <a:ext cx="11018520" cy="4370832"/>
          </a:xfrm>
          <a:prstGeom prst="roundRect">
            <a:avLst/>
          </a:prstGeom>
          <a:solidFill>
            <a:srgbClr val="FFFFFF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v4_two_stage_trai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1053" y="1042416"/>
            <a:ext cx="7625133" cy="4261104"/>
          </a:xfrm>
          <a:prstGeom prst="rect">
            <a:avLst/>
          </a:prstGeom>
        </p:spPr>
      </p:pic>
      <p:pic>
        <p:nvPicPr>
          <p:cNvPr id="9" name="Picture 8" descr="v3_kd_lo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8430" y="5440680"/>
            <a:ext cx="491037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69264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100" b="1">
                <a:solidFill>
                  <a:srgbClr val="163A6C"/>
                </a:solidFill>
                <a:latin typeface="Arial"/>
              </a:rPr>
              <a:t>DAGM 定量结果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265176"/>
            <a:ext cx="16002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900" b="0">
                <a:solidFill>
                  <a:srgbClr val="5F6F84"/>
                </a:solidFill>
                <a:latin typeface="Arial"/>
              </a:rPr>
              <a:t>DAGM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04672"/>
            <a:ext cx="11201400" cy="22860"/>
          </a:xfrm>
          <a:prstGeom prst="rect">
            <a:avLst/>
          </a:prstGeom>
          <a:solidFill>
            <a:srgbClr val="16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6272784"/>
            <a:ext cx="11201400" cy="347472"/>
          </a:xfrm>
          <a:prstGeom prst="roundRect">
            <a:avLst/>
          </a:prstGeom>
          <a:solidFill>
            <a:srgbClr val="EDF3FC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00216"/>
            <a:ext cx="10881360" cy="2834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63A6C"/>
                </a:solidFill>
                <a:latin typeface="Arial"/>
              </a:rPr>
              <a:t>Full validation 上 AP/AUC=1.0，IoU=0.9145，Dice=0.9349。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987552"/>
            <a:ext cx="11018520" cy="5074920"/>
          </a:xfrm>
          <a:prstGeom prst="roundRect">
            <a:avLst/>
          </a:prstGeom>
          <a:solidFill>
            <a:srgbClr val="FFFFFF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dagm_full_validation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0116" y="1042416"/>
            <a:ext cx="8827008" cy="4965192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69264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100" b="1">
                <a:solidFill>
                  <a:srgbClr val="163A6C"/>
                </a:solidFill>
                <a:latin typeface="Arial"/>
              </a:rPr>
              <a:t>DAGM 指标表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265176"/>
            <a:ext cx="16002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900" b="0">
                <a:solidFill>
                  <a:srgbClr val="5F6F84"/>
                </a:solidFill>
                <a:latin typeface="Arial"/>
              </a:rPr>
              <a:t>DAGM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04672"/>
            <a:ext cx="11201400" cy="22860"/>
          </a:xfrm>
          <a:prstGeom prst="rect">
            <a:avLst/>
          </a:prstGeom>
          <a:solidFill>
            <a:srgbClr val="16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6272784"/>
            <a:ext cx="11201400" cy="347472"/>
          </a:xfrm>
          <a:prstGeom prst="roundRect">
            <a:avLst/>
          </a:prstGeom>
          <a:solidFill>
            <a:srgbClr val="EDF3FC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00216"/>
            <a:ext cx="10881360" cy="2834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63A6C"/>
                </a:solidFill>
                <a:latin typeface="Arial"/>
              </a:rPr>
              <a:t>Precision 高于 Recall，说明 mask 偏保守但误检很少。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987552"/>
            <a:ext cx="11018520" cy="5074920"/>
          </a:xfrm>
          <a:prstGeom prst="roundRect">
            <a:avLst/>
          </a:prstGeom>
          <a:solidFill>
            <a:srgbClr val="FFFFFF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v3_dagm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" y="2705353"/>
            <a:ext cx="10908792" cy="1639317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69264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100" b="1">
                <a:solidFill>
                  <a:srgbClr val="163A6C"/>
                </a:solidFill>
                <a:latin typeface="Arial"/>
              </a:rPr>
              <a:t>DAGM mask 定性结果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265176"/>
            <a:ext cx="16002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900" b="0">
                <a:solidFill>
                  <a:srgbClr val="5F6F84"/>
                </a:solidFill>
                <a:latin typeface="Arial"/>
              </a:rPr>
              <a:t>DAGM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04672"/>
            <a:ext cx="11201400" cy="22860"/>
          </a:xfrm>
          <a:prstGeom prst="rect">
            <a:avLst/>
          </a:prstGeom>
          <a:solidFill>
            <a:srgbClr val="16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6272784"/>
            <a:ext cx="11201400" cy="347472"/>
          </a:xfrm>
          <a:prstGeom prst="roundRect">
            <a:avLst/>
          </a:prstGeom>
          <a:solidFill>
            <a:srgbClr val="EDF3FC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00216"/>
            <a:ext cx="10881360" cy="2834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63A6C"/>
                </a:solidFill>
                <a:latin typeface="Arial"/>
              </a:rPr>
              <a:t>预测热图基本落在真实缺陷区域，说明 student 学到了有效定位能力。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987552"/>
            <a:ext cx="11018520" cy="5074920"/>
          </a:xfrm>
          <a:prstGeom prst="roundRect">
            <a:avLst/>
          </a:prstGeom>
          <a:solidFill>
            <a:srgbClr val="FFFFFF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mask_visualization_contact_sheet_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7617" y="1042416"/>
            <a:ext cx="5432004" cy="4965192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69264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100" b="1">
                <a:solidFill>
                  <a:srgbClr val="163A6C"/>
                </a:solidFill>
                <a:latin typeface="Arial"/>
              </a:rPr>
              <a:t>DAGM threshold sweep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265176"/>
            <a:ext cx="16002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900" b="0">
                <a:solidFill>
                  <a:srgbClr val="5F6F84"/>
                </a:solidFill>
                <a:latin typeface="Arial"/>
              </a:rPr>
              <a:t>DAGM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04672"/>
            <a:ext cx="11201400" cy="22860"/>
          </a:xfrm>
          <a:prstGeom prst="rect">
            <a:avLst/>
          </a:prstGeom>
          <a:solidFill>
            <a:srgbClr val="16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6272784"/>
            <a:ext cx="11201400" cy="347472"/>
          </a:xfrm>
          <a:prstGeom prst="roundRect">
            <a:avLst/>
          </a:prstGeom>
          <a:solidFill>
            <a:srgbClr val="EDF3FC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00216"/>
            <a:ext cx="10881360" cy="2834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63A6C"/>
                </a:solidFill>
                <a:latin typeface="Arial"/>
              </a:rPr>
              <a:t>DAGM 默认 threshold=0.5 已稳定，结果不是靠手动调阈值刷出来的。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987552"/>
            <a:ext cx="11018520" cy="5074920"/>
          </a:xfrm>
          <a:prstGeom prst="roundRect">
            <a:avLst/>
          </a:prstGeom>
          <a:solidFill>
            <a:srgbClr val="FFFFFF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dagm_threshold_swe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1804" y="1042416"/>
            <a:ext cx="7723632" cy="4965192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69264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100" b="1">
                <a:solidFill>
                  <a:srgbClr val="163A6C"/>
                </a:solidFill>
                <a:latin typeface="Arial"/>
              </a:rPr>
              <a:t>DAGM optical kernels：signed / positive / negative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265176"/>
            <a:ext cx="16002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900" b="0">
                <a:solidFill>
                  <a:srgbClr val="5F6F84"/>
                </a:solidFill>
                <a:latin typeface="Arial"/>
              </a:rPr>
              <a:t>DAGM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04672"/>
            <a:ext cx="11201400" cy="22860"/>
          </a:xfrm>
          <a:prstGeom prst="rect">
            <a:avLst/>
          </a:prstGeom>
          <a:solidFill>
            <a:srgbClr val="16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6272784"/>
            <a:ext cx="11201400" cy="347472"/>
          </a:xfrm>
          <a:prstGeom prst="roundRect">
            <a:avLst/>
          </a:prstGeom>
          <a:solidFill>
            <a:srgbClr val="EDF3FC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00216"/>
            <a:ext cx="10881360" cy="2834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63A6C"/>
                </a:solidFill>
                <a:latin typeface="Arial"/>
              </a:rPr>
              <a:t>DAGM kernels 呈现纹理、边缘和方向响应，是 PSF 设计的核心输入。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34440"/>
            <a:ext cx="370332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kernel_grid_sig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" y="1609344"/>
            <a:ext cx="3593592" cy="3593592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251960" y="1234440"/>
            <a:ext cx="370332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kernel_grid_positi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6824" y="1609344"/>
            <a:ext cx="3593592" cy="3593592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001000" y="1234440"/>
            <a:ext cx="370332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kernel_grid_negativ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5864" y="1609344"/>
            <a:ext cx="3593592" cy="3593592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69264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100" b="1">
                <a:solidFill>
                  <a:srgbClr val="163A6C"/>
                </a:solidFill>
                <a:latin typeface="Arial"/>
              </a:rPr>
              <a:t>DAGM PSF target 与 backphase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265176"/>
            <a:ext cx="16002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900" b="0">
                <a:solidFill>
                  <a:srgbClr val="5F6F84"/>
                </a:solidFill>
                <a:latin typeface="Arial"/>
              </a:rPr>
              <a:t>DAGM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04672"/>
            <a:ext cx="11201400" cy="22860"/>
          </a:xfrm>
          <a:prstGeom prst="rect">
            <a:avLst/>
          </a:prstGeom>
          <a:solidFill>
            <a:srgbClr val="16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6272784"/>
            <a:ext cx="11201400" cy="347472"/>
          </a:xfrm>
          <a:prstGeom prst="roundRect">
            <a:avLst/>
          </a:prstGeom>
          <a:solidFill>
            <a:srgbClr val="EDF3FC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00216"/>
            <a:ext cx="10881360" cy="2834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63A6C"/>
                </a:solidFill>
                <a:latin typeface="Arial"/>
              </a:rPr>
              <a:t>Learned kernels 已经可转成 target PSF 和初始 backphase。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051560"/>
            <a:ext cx="534924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sf_target_center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" y="2187702"/>
            <a:ext cx="5239512" cy="2619756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263640" y="1051560"/>
            <a:ext cx="534924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sf_backphase_pre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7104" y="1106424"/>
            <a:ext cx="4782312" cy="4782312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69264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100" b="1">
                <a:solidFill>
                  <a:srgbClr val="163A6C"/>
                </a:solidFill>
                <a:latin typeface="Arial"/>
              </a:rPr>
              <a:t>Metasurface feasibility probe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265176"/>
            <a:ext cx="16002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900" b="0">
                <a:solidFill>
                  <a:srgbClr val="5F6F84"/>
                </a:solidFill>
                <a:latin typeface="Arial"/>
              </a:rPr>
              <a:t>DAGM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04672"/>
            <a:ext cx="11201400" cy="22860"/>
          </a:xfrm>
          <a:prstGeom prst="rect">
            <a:avLst/>
          </a:prstGeom>
          <a:solidFill>
            <a:srgbClr val="16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6272784"/>
            <a:ext cx="11201400" cy="347472"/>
          </a:xfrm>
          <a:prstGeom prst="roundRect">
            <a:avLst/>
          </a:prstGeom>
          <a:solidFill>
            <a:srgbClr val="EDF3FC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00216"/>
            <a:ext cx="10881360" cy="2834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63A6C"/>
                </a:solidFill>
                <a:latin typeface="Arial"/>
              </a:rPr>
              <a:t>代表 kernel 的 PSF 拟合 cosine similarity 达到 0.979-0.991。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051560"/>
            <a:ext cx="534924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kernel00_positive_prob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" y="1885422"/>
            <a:ext cx="5239512" cy="3224315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263640" y="1051560"/>
            <a:ext cx="534924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etasurface_probe_cosine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8504" y="2187702"/>
            <a:ext cx="5239512" cy="2619756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69264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100" b="1">
                <a:solidFill>
                  <a:srgbClr val="163A6C"/>
                </a:solidFill>
                <a:latin typeface="Arial"/>
              </a:rPr>
              <a:t>Metasurface probe 补充样例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265176"/>
            <a:ext cx="16002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900" b="0">
                <a:solidFill>
                  <a:srgbClr val="5F6F84"/>
                </a:solidFill>
                <a:latin typeface="Arial"/>
              </a:rPr>
              <a:t>DAGM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04672"/>
            <a:ext cx="11201400" cy="22860"/>
          </a:xfrm>
          <a:prstGeom prst="rect">
            <a:avLst/>
          </a:prstGeom>
          <a:solidFill>
            <a:srgbClr val="16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6272784"/>
            <a:ext cx="11201400" cy="347472"/>
          </a:xfrm>
          <a:prstGeom prst="roundRect">
            <a:avLst/>
          </a:prstGeom>
          <a:solidFill>
            <a:srgbClr val="EDF3FC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00216"/>
            <a:ext cx="10881360" cy="2834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63A6C"/>
                </a:solidFill>
                <a:latin typeface="Arial"/>
              </a:rPr>
              <a:t>不平衡 kernel 的 negative branch 也能作为压力测试样例进入可行性分析。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987552"/>
            <a:ext cx="11018520" cy="5074920"/>
          </a:xfrm>
          <a:prstGeom prst="roundRect">
            <a:avLst/>
          </a:prstGeom>
          <a:solidFill>
            <a:srgbClr val="FFFFFF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kernel37_negative_prob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01" y="1042416"/>
            <a:ext cx="8068437" cy="4965192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69264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100" b="1">
                <a:solidFill>
                  <a:srgbClr val="163A6C"/>
                </a:solidFill>
                <a:latin typeface="Arial"/>
              </a:rPr>
              <a:t>DAGM 计算量节省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265176"/>
            <a:ext cx="16002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900" b="0">
                <a:solidFill>
                  <a:srgbClr val="5F6F84"/>
                </a:solidFill>
                <a:latin typeface="Arial"/>
              </a:rPr>
              <a:t>DAGM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04672"/>
            <a:ext cx="11201400" cy="22860"/>
          </a:xfrm>
          <a:prstGeom prst="rect">
            <a:avLst/>
          </a:prstGeom>
          <a:solidFill>
            <a:srgbClr val="16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6272784"/>
            <a:ext cx="11201400" cy="347472"/>
          </a:xfrm>
          <a:prstGeom prst="roundRect">
            <a:avLst/>
          </a:prstGeom>
          <a:solidFill>
            <a:srgbClr val="EDF3FC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00216"/>
            <a:ext cx="10881360" cy="2834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63A6C"/>
                </a:solidFill>
                <a:latin typeface="Arial"/>
              </a:rPr>
              <a:t>Hybrid electronic backend 相对 teacher@256 理论电子 MACs 减少约 905×。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987552"/>
            <a:ext cx="11018520" cy="5074920"/>
          </a:xfrm>
          <a:prstGeom prst="roundRect">
            <a:avLst/>
          </a:prstGeom>
          <a:solidFill>
            <a:srgbClr val="FFFFFF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ompute_comparison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0116" y="1042416"/>
            <a:ext cx="8827008" cy="4965192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69264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100" b="1">
                <a:solidFill>
                  <a:srgbClr val="163A6C"/>
                </a:solidFill>
                <a:latin typeface="Arial"/>
              </a:rPr>
              <a:t>DAGM 计算量表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265176"/>
            <a:ext cx="16002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900" b="0">
                <a:solidFill>
                  <a:srgbClr val="5F6F84"/>
                </a:solidFill>
                <a:latin typeface="Arial"/>
              </a:rPr>
              <a:t>DAGM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04672"/>
            <a:ext cx="11201400" cy="22860"/>
          </a:xfrm>
          <a:prstGeom prst="rect">
            <a:avLst/>
          </a:prstGeom>
          <a:solidFill>
            <a:srgbClr val="16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6272784"/>
            <a:ext cx="11201400" cy="347472"/>
          </a:xfrm>
          <a:prstGeom prst="roundRect">
            <a:avLst/>
          </a:prstGeom>
          <a:solidFill>
            <a:srgbClr val="EDF3FC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00216"/>
            <a:ext cx="10881360" cy="2834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63A6C"/>
                </a:solidFill>
                <a:latin typeface="Arial"/>
              </a:rPr>
              <a:t>这些是理论电子 MAC reduction，实际速度还取决于曝光、读出、ADC 和硬件实现。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987552"/>
            <a:ext cx="11018520" cy="5074920"/>
          </a:xfrm>
          <a:prstGeom prst="roundRect">
            <a:avLst/>
          </a:prstGeom>
          <a:solidFill>
            <a:srgbClr val="FFFFFF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v3_dagm_compu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" y="1857138"/>
            <a:ext cx="10908792" cy="3335746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69264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100" b="1">
                <a:solidFill>
                  <a:srgbClr val="163A6C"/>
                </a:solidFill>
                <a:latin typeface="Arial"/>
              </a:rPr>
              <a:t>项目闭环总结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265176"/>
            <a:ext cx="16002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900" b="0">
                <a:solidFill>
                  <a:srgbClr val="5F6F84"/>
                </a:solidFill>
                <a:latin typeface="Arial"/>
              </a:rPr>
              <a:t>总结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04672"/>
            <a:ext cx="11201400" cy="22860"/>
          </a:xfrm>
          <a:prstGeom prst="rect">
            <a:avLst/>
          </a:prstGeom>
          <a:solidFill>
            <a:srgbClr val="16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6272784"/>
            <a:ext cx="11201400" cy="347472"/>
          </a:xfrm>
          <a:prstGeom prst="roundRect">
            <a:avLst/>
          </a:prstGeom>
          <a:solidFill>
            <a:srgbClr val="EDF3FC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00216"/>
            <a:ext cx="10881360" cy="2834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63A6C"/>
                </a:solidFill>
                <a:latin typeface="Arial"/>
              </a:rPr>
              <a:t>本课题已经形成 teacher -&gt; optical student -&gt; kernels -&gt; PSF -&gt; metasurface probe -&gt; compute reduction 的证据链。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987552"/>
            <a:ext cx="11018520" cy="5074920"/>
          </a:xfrm>
          <a:prstGeom prst="roundRect">
            <a:avLst/>
          </a:prstGeom>
          <a:solidFill>
            <a:srgbClr val="FFFFFF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v4_project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1079" y="1042416"/>
            <a:ext cx="8885080" cy="4965192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69264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100" b="1">
                <a:solidFill>
                  <a:srgbClr val="163A6C"/>
                </a:solidFill>
                <a:latin typeface="Arial"/>
              </a:rPr>
              <a:t>两个案例对照总结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265176"/>
            <a:ext cx="16002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900" b="0">
                <a:solidFill>
                  <a:srgbClr val="5F6F84"/>
                </a:solidFill>
                <a:latin typeface="Arial"/>
              </a:rPr>
              <a:t>总结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04672"/>
            <a:ext cx="11201400" cy="22860"/>
          </a:xfrm>
          <a:prstGeom prst="rect">
            <a:avLst/>
          </a:prstGeom>
          <a:solidFill>
            <a:srgbClr val="16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6272784"/>
            <a:ext cx="11201400" cy="347472"/>
          </a:xfrm>
          <a:prstGeom prst="roundRect">
            <a:avLst/>
          </a:prstGeom>
          <a:solidFill>
            <a:srgbClr val="EDF3FC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00216"/>
            <a:ext cx="10881360" cy="2834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63A6C"/>
                </a:solidFill>
                <a:latin typeface="Arial"/>
              </a:rPr>
              <a:t>Fabric 验证二分类方法起点，DAGM 验证高性能分割和物理映射闭环。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987552"/>
            <a:ext cx="11018520" cy="5074920"/>
          </a:xfrm>
          <a:prstGeom prst="roundRect">
            <a:avLst/>
          </a:prstGeom>
          <a:solidFill>
            <a:srgbClr val="FFFFFF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v3_cas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" y="2661496"/>
            <a:ext cx="10908792" cy="1727031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69264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100" b="1">
                <a:solidFill>
                  <a:srgbClr val="163A6C"/>
                </a:solidFill>
                <a:latin typeface="Arial"/>
              </a:rPr>
              <a:t>未来展望：从分割到定位检测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265176"/>
            <a:ext cx="16002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900" b="0">
                <a:solidFill>
                  <a:srgbClr val="5F6F84"/>
                </a:solidFill>
                <a:latin typeface="Arial"/>
              </a:rPr>
              <a:t>展望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04672"/>
            <a:ext cx="11201400" cy="22860"/>
          </a:xfrm>
          <a:prstGeom prst="rect">
            <a:avLst/>
          </a:prstGeom>
          <a:solidFill>
            <a:srgbClr val="16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6272784"/>
            <a:ext cx="11201400" cy="347472"/>
          </a:xfrm>
          <a:prstGeom prst="roundRect">
            <a:avLst/>
          </a:prstGeom>
          <a:solidFill>
            <a:srgbClr val="EDF3FC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00216"/>
            <a:ext cx="10881360" cy="2834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63A6C"/>
                </a:solidFill>
                <a:latin typeface="Arial"/>
              </a:rPr>
              <a:t>下一步可扩展到 YOLO、PCB、wafer、chip defect localization，并加入 hardware-aware retraining。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987552"/>
            <a:ext cx="11018520" cy="5074920"/>
          </a:xfrm>
          <a:prstGeom prst="roundRect">
            <a:avLst/>
          </a:prstGeom>
          <a:solidFill>
            <a:srgbClr val="FFFFFF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v4_future_road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1079" y="1042416"/>
            <a:ext cx="8885080" cy="496519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