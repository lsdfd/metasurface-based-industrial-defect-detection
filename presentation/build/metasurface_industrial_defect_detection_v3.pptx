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2870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163A6C"/>
                </a:solidFill>
                <a:latin typeface="Arial"/>
              </a:rPr>
              <a:t>超表面光学前端辅助的工业缺陷检测方法研究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331720"/>
            <a:ext cx="96926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0">
                <a:solidFill>
                  <a:srgbClr val="24324A"/>
                </a:solidFill>
                <a:latin typeface="Arial"/>
              </a:rPr>
              <a:t>Metasurface-based Optical Frontend for Industrial Defect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3063240"/>
            <a:ext cx="80010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79476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163A6C"/>
                </a:solidFill>
                <a:latin typeface="Arial"/>
              </a:rPr>
              <a:t>李升欣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370832"/>
            <a:ext cx="4480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4324A"/>
                </a:solidFill>
                <a:latin typeface="Arial"/>
              </a:rPr>
              <a:t>2026年5月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99669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5F6F84"/>
                </a:solidFill>
                <a:latin typeface="Arial"/>
              </a:rPr>
              <a:t>Fabric 二分类验证  |  DAGM / SegDecNet 分割闭环  |  Kernel-to-PSF 物理映射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背景：工业检测计算瓶颈与超表面视觉前端机会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工业质检需要高速低功耗视觉前端，超表面提供了把早期卷积前移到成像链路的入口。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background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总体方法：传统电子模型到光电融合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主线是 teacher 蒸馏、optical student、kernel-to-PSF 和轻量电子后端。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methodology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光电融合系统：metasurface + CMOS + electronic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超表面承担早期光学卷积，电子后端负责 calibration、非线性和任务输出。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hybrid_optic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知识蒸馏机制：对齐 score、mask 与 feature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蒸馏把强电子 teacher 的任务能力迁移到受物理约束的 optical student。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istillation_trainin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30" y="5440680"/>
            <a:ext cx="491037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Kernel-to-PSF：从 signed kernel 到超表面可实现目标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正负拆分是把含符号卷积核映射到非负光强 PSF 的关键步骤。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kernel_to_psf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ernel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45" y="5440680"/>
            <a:ext cx="515354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两个案例：Fabric 二分类与 DAGM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是方法起点，DAGM 是高性能分割和物理映射闭环。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case_overview_two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/ AITEX：织物 patch 缺陷二分类任务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检测织物 patch 是否存在缺陷，不输出具体缺陷位置。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fabric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teacher/student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使用 64×64 输入和一层 optical convolution bank 学习二分类判别。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fabric_teacher_stud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主结果与阈值校准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R1 student 在最佳阈值下 F1=0.8571，但部署前必须做阈值校准。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student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69710"/>
            <a:ext cx="5239512" cy="32557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bric_r1_threshold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31979"/>
            <a:ext cx="5239512" cy="3331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指标表：teacher、默认阈值和最佳阈值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默认阈值会低估 student，最佳阈值下模型已具备作为 optical frontend 原型的价值。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fabri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514434"/>
            <a:ext cx="10908792" cy="20211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optical kernels：signed / positive /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kernels 已完成正负拆分，可进入 metasurface PSF target 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556012"/>
            <a:ext cx="3593592" cy="37002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556012"/>
            <a:ext cx="3593592" cy="370025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556012"/>
            <a:ext cx="3593592" cy="3700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计算量节省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teacher 到 student 约 175× 参数减少、约 99.5× MAC 减少。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210579"/>
            <a:ext cx="10908792" cy="4628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Fabric 补充资产：teacher confusion matrix / demo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补充图用于说明原二分类链路和可视化界面，不作为最终主结果。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bric_teacher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686" y="1042416"/>
            <a:ext cx="5591866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Class7：工业纹理缺陷分类 + 像素级分割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不只判断有没有缺陷，还输出 pixel-level defect mask，是当前主结果。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dagm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teacher/student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Student 保留 SegDecNet-style 电子后端，把早期 volume 前端替换为 optical convolution bank。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teacher_stud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两阶段蒸馏训练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先强化 volume/segmentation 对齐，再联合优化分类、分割和任务损失。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two_stage_dagm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3" y="1042416"/>
            <a:ext cx="7625133" cy="4261104"/>
          </a:xfrm>
          <a:prstGeom prst="rect">
            <a:avLst/>
          </a:prstGeom>
        </p:spPr>
      </p:pic>
      <p:pic>
        <p:nvPicPr>
          <p:cNvPr id="9" name="Picture 8" descr="v3_kd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30" y="5440680"/>
            <a:ext cx="491037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定量结果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Full validation 上 AP/AUC=1.0，IoU=0.9145，Dice=0.9349。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full_valid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6" y="1042416"/>
            <a:ext cx="8827008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指标表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Precision 高于 Recall，说明 mask 偏保守但误检很少。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705353"/>
            <a:ext cx="10908792" cy="16393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mask 定性结果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预测热图基本落在真实缺陷区域，说明 student 学到了有效定位能力。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_visualization_contact_sheet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617" y="1042416"/>
            <a:ext cx="5432004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threshold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默认 threshold=0.5 已稳定，结果不是靠手动调阈值刷出来的。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gm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04" y="1042416"/>
            <a:ext cx="7723632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optical kernels：signed / positive /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DAGM kernels 呈现纹理、边缘和方向响应，是 PSF 设计的核心输入。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_grid_s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609344"/>
            <a:ext cx="3593592" cy="359359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5196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rnel_grid_posi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609344"/>
            <a:ext cx="3593592" cy="35935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234440"/>
            <a:ext cx="37033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kernel_grid_nega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609344"/>
            <a:ext cx="359359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PSF target 与 backphase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Learned kernels 已经可转成 target PSF 和初始 backphase。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sf_target_cent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87702"/>
            <a:ext cx="5239512" cy="26197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sf_backphase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106424"/>
            <a:ext cx="4782312" cy="47823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feasibility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代表 kernel 的 PSF 拟合 cosine similarity 达到 0.979-0.991。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00_posi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85422"/>
            <a:ext cx="5239512" cy="32243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05156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tasurface_probe_cosin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187702"/>
            <a:ext cx="5239512" cy="26197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Metasurface probe 补充样例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不平衡 kernel 的 negative branch 也能作为压力测试样例进入可行性分析。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ernel37_negative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01" y="1042416"/>
            <a:ext cx="8068437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计算量节省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Hybrid electronic backend 相对 teacher@256 理论电子 MACs 减少约 905×。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ute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116" y="1042416"/>
            <a:ext cx="8827008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DAGM 计算量表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DAGM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这些是理论电子 MAC reduction，实际速度还取决于曝光、读出、ADC 和硬件实现。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dagm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857138"/>
            <a:ext cx="10908792" cy="33357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项目闭环总结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本课题已经形成 teacher -&gt; optical student -&gt; kernels -&gt; PSF -&gt; metasurface probe -&gt; compute reduction 的证据链。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project_summary_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两个案例对照总结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Fabric 验证二分类方法起点，DAGM 验证高性能分割和物理映射闭环。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3_ca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61496"/>
            <a:ext cx="10908792" cy="17270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163A6C"/>
                </a:solidFill>
                <a:latin typeface="Arial"/>
              </a:rPr>
              <a:t>未来展望：从分割到定位检测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65176"/>
            <a:ext cx="1600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5F6F84"/>
                </a:solidFill>
                <a:latin typeface="Arial"/>
              </a:rPr>
              <a:t>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1201400" cy="22860"/>
          </a:xfrm>
          <a:prstGeom prst="rect">
            <a:avLst/>
          </a:prstGeom>
          <a:solidFill>
            <a:srgbClr val="16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72784"/>
            <a:ext cx="11201400" cy="347472"/>
          </a:xfrm>
          <a:prstGeom prst="roundRect">
            <a:avLst/>
          </a:prstGeom>
          <a:solidFill>
            <a:srgbClr val="EDF3FC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300216"/>
            <a:ext cx="10881360" cy="2834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163A6C"/>
                </a:solidFill>
                <a:latin typeface="Arial"/>
              </a:rPr>
              <a:t>下一步可扩展到 YOLO、PCB、wafer、chip defect localization，并加入 hardware-aware retraining。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87552"/>
            <a:ext cx="110185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2_future_system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79" y="1042416"/>
            <a:ext cx="8885080" cy="4965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