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ybrid_defec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96"/>
            <a:ext cx="12191695" cy="681300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5212080" cy="11887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3000" b="1">
                <a:solidFill>
                  <a:srgbClr val="163A6C"/>
                </a:solidFill>
                <a:latin typeface="Arial"/>
              </a:rPr>
              <a:t>超表面光学前端辅助的
工业缺陷检测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5728"/>
            <a:ext cx="4800600" cy="5029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24324A"/>
                </a:solidFill>
                <a:latin typeface="Arial"/>
              </a:rPr>
              <a:t>Metasurface optical frontend + lightweight electronic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480060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1">
                <a:solidFill>
                  <a:srgbClr val="163A6C"/>
                </a:solidFill>
                <a:latin typeface="Arial"/>
              </a:rPr>
              <a:t>Fabric 二分类验证  |  DAGM / SegDecNet 分割闭环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工业缺陷检测的核心矛盾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工业质检需要同时满足高分辨率、低延迟和低功耗。</a:t>
            </a:r>
          </a:p>
        </p:txBody>
      </p:sp>
      <p:pic>
        <p:nvPicPr>
          <p:cNvPr id="7" name="Picture 6" descr="background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902" y="987552"/>
            <a:ext cx="908143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本课题目标：把早期特征提取前移到光学链路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目标是在尽量保持任务性能的同时，用超表面承担部分前端卷积。</a:t>
            </a:r>
          </a:p>
        </p:txBody>
      </p:sp>
      <p:pic>
        <p:nvPicPr>
          <p:cNvPr id="7" name="Picture 6" descr="hybrid_optic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902" y="987552"/>
            <a:ext cx="908143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总体研究路线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总体方案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整个课题沿着“电子 teacher -&gt; optical student -&gt; physical mapping”逐步推进。</a:t>
            </a:r>
          </a:p>
        </p:txBody>
      </p:sp>
      <p:pic>
        <p:nvPicPr>
          <p:cNvPr id="7" name="Picture 6" descr="research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7605"/>
            <a:ext cx="5577840" cy="31170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143000"/>
            <a:ext cx="1600200" cy="6400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188720"/>
            <a:ext cx="1453896" cy="5486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Electronic
Teacher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43000"/>
            <a:ext cx="1600200" cy="6400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188720"/>
            <a:ext cx="1453896" cy="5486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Optical
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143000"/>
            <a:ext cx="1600200" cy="6400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31552" y="1188720"/>
            <a:ext cx="1453896" cy="5486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Physical
Probe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0" y="1463040"/>
            <a:ext cx="228600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1463040"/>
            <a:ext cx="228600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2057400"/>
            <a:ext cx="5257800" cy="77724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57400"/>
            <a:ext cx="64008" cy="77724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167128"/>
            <a:ext cx="49377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1. 从强电子模型出发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32888"/>
            <a:ext cx="4937760" cy="21031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先复现或固定 teacher，获得可靠任务监督。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71800"/>
            <a:ext cx="5257800" cy="77724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971800"/>
            <a:ext cx="64008" cy="7772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81528"/>
            <a:ext cx="49377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2. 设计物理友好 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447288"/>
            <a:ext cx="4937760" cy="21031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前端限制为 optical convolution bank，后端保留必要非线性。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86200"/>
            <a:ext cx="5257800" cy="77724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886200"/>
            <a:ext cx="64008" cy="7772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995928"/>
            <a:ext cx="49377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3. 导出 kernels 并映射 PSF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361688"/>
            <a:ext cx="4937760" cy="21031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signed kernels 经过正负拆分，进入超表面可实现性验证。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方法论：知识蒸馏连接软件模型和物理前端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总体方案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蒸馏用于把强电子模型的任务能力迁移到物理友好的学生模型。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1945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63040"/>
            <a:ext cx="20482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Teacher
High-capacity CNN / SegDecNet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417320"/>
            <a:ext cx="21945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2" y="1463040"/>
            <a:ext cx="20482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Student
Optical frontend + backend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1874519"/>
            <a:ext cx="1874520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37560" y="1417320"/>
            <a:ext cx="141732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163A6C"/>
                </a:solidFill>
                <a:latin typeface="Arial"/>
              </a:rPr>
              <a:t>KD losses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078992"/>
            <a:ext cx="352044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078992"/>
            <a:ext cx="64008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1188720"/>
            <a:ext cx="32004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Task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1554480"/>
            <a:ext cx="3200400" cy="39319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真实标签监督 classification / segmentation。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2267712"/>
            <a:ext cx="352044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267712"/>
            <a:ext cx="64008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7" y="2377440"/>
            <a:ext cx="32004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Soft prediction KD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7" y="2743200"/>
            <a:ext cx="3200400" cy="39319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对齐 teacher 的分类概率、分割热图或 logits。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456432"/>
            <a:ext cx="352044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3456432"/>
            <a:ext cx="64008" cy="9601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7" y="3566160"/>
            <a:ext cx="32004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Feature / volume KD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7" y="3931920"/>
            <a:ext cx="3200400" cy="39319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在 DAGM 中对齐共享卷积 volume 和 segmentation 输出。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971800"/>
            <a:ext cx="6035040" cy="12344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800" b="1">
                <a:solidFill>
                  <a:srgbClr val="24324A"/>
                </a:solidFill>
                <a:latin typeface="Arial"/>
              </a:rPr>
              <a:t>训练目标示意：
L = L_task + λ_seg L_segKD + λ_vol L_volumeKD + λ_cls L_clsKD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从 learned kernels 到超表面 PSF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总体方案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signed kernel 需要做 positive/negative split 才能映射到非负光强响应。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5087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20239"/>
            <a:ext cx="13624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Signed kernel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331720"/>
            <a:ext cx="52120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1874519"/>
            <a:ext cx="15087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920239"/>
            <a:ext cx="13624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Positive branch
max(K, 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9392" y="2331720"/>
            <a:ext cx="52120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1874519"/>
            <a:ext cx="15087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1920239"/>
            <a:ext cx="13624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Negative branch
max(-K, 0)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82512" y="2331720"/>
            <a:ext cx="52120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0" y="1874519"/>
            <a:ext cx="15087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920239"/>
            <a:ext cx="13624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Target PSF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85632" y="2331720"/>
            <a:ext cx="52120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874519"/>
            <a:ext cx="1508760" cy="9144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920239"/>
            <a:ext cx="1362456" cy="8229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Metasurface
phase / radius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749039"/>
            <a:ext cx="10058400" cy="7315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2400" b="1">
                <a:solidFill>
                  <a:srgbClr val="163A6C"/>
                </a:solidFill>
                <a:latin typeface="Arial"/>
              </a:rPr>
              <a:t>核心公式：K = K_positive - K_negative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600" b="0">
                <a:solidFill>
                  <a:srgbClr val="24324A"/>
                </a:solidFill>
                <a:latin typeface="Arial"/>
              </a:rPr>
              <a:t>这个拆分逻辑在 Fabric 和 DAGM 两个案例中都保持一致。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两个案例在整体路线中的位置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总体方案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是方法起点，DAGM 是更完整的工业缺陷分割主线。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5120640" cy="35661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64008" cy="3566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344168"/>
            <a:ext cx="48006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案例一：Fabric patch 二分类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09928"/>
            <a:ext cx="4800600" cy="29992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任务：AITEX fabric patch OK/NG
模型：teacher CNN -&gt; R1 optical student
重点：64x64 低分辨率输入、一层 optical kernels、阈值校准
角色：小而清晰的方法验证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120640" cy="35661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64008" cy="35661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44168"/>
            <a:ext cx="48006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案例二：DAGM / SegDecNet 分割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09928"/>
            <a:ext cx="4800600" cy="29992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任务：DAGM Class7 缺陷分类 + mask 分割
模型：SegDecNet teacher -&gt; optical student
重点：两阶段蒸馏、mask 结果、PSF target、metasurface probe
角色：当前高性能主结果闭环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80" y="3017520"/>
            <a:ext cx="338328" cy="0"/>
          </a:xfrm>
          <a:prstGeom prst="line">
            <a:avLst/>
          </a:prstGeom>
          <a:ln w="27940">
            <a:solidFill>
              <a:srgbClr val="163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/ AITEX：patch 二分类任务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提供了一个易于讲清楚的一层 optical student 起点。</a:t>
            </a:r>
          </a:p>
        </p:txBody>
      </p:sp>
      <p:pic>
        <p:nvPicPr>
          <p:cNvPr id="7" name="Picture 6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4548"/>
            <a:ext cx="5029200" cy="19311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417320"/>
            <a:ext cx="1600200" cy="6858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3912" y="1463040"/>
            <a:ext cx="1453896" cy="5943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Full fabric
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417320"/>
            <a:ext cx="1600200" cy="6858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463040"/>
            <a:ext cx="1453896" cy="5943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256x256
patches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799" y="1417320"/>
            <a:ext cx="1600200" cy="68580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2951" y="1463040"/>
            <a:ext cx="1453896" cy="59436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OK / NG
classification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08392" y="1755648"/>
            <a:ext cx="246887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82912" y="1755648"/>
            <a:ext cx="246887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2560320"/>
            <a:ext cx="534924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560320"/>
            <a:ext cx="64008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670048"/>
            <a:ext cx="50292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任务特点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35808"/>
            <a:ext cx="5029200" cy="39319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缺陷稀疏、patch 二分类、适合快速验证 optical frontend。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749039"/>
            <a:ext cx="534924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3749039"/>
            <a:ext cx="64008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3858767"/>
            <a:ext cx="50292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为什么先做它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4224527"/>
            <a:ext cx="5029200" cy="39319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链路短、解释清楚，能快速检验低分辨率 student 是否有效。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teacher CNN 与 patch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Teacher 是固定电子基线，student 只替换早期特征提取思路。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6459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74520"/>
            <a:ext cx="14996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Fabric image
256x4096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2267712"/>
            <a:ext cx="374904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97480" y="1828800"/>
            <a:ext cx="16459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874520"/>
            <a:ext cx="14996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Patch split
16 x 256x256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70832" y="2267712"/>
            <a:ext cx="374904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1828800"/>
            <a:ext cx="16459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1874520"/>
            <a:ext cx="14996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CNN feature
extractor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73952" y="2267712"/>
            <a:ext cx="374904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1828800"/>
            <a:ext cx="16459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874520"/>
            <a:ext cx="14996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FC classifier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77072" y="2267712"/>
            <a:ext cx="374904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06840" y="1828800"/>
            <a:ext cx="16459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1874520"/>
            <a:ext cx="14996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OK / NG
score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828800" y="3657600"/>
          <a:ext cx="8503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Teacher reference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F1 ≈ 0.975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256x256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Student input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64x64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Student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binary defect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R1 student：低分辨率 optical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关键经验是把输入压到 64x64，而不是盲目堆学生网络。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0020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145389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Input
64x64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9152" y="2450592"/>
            <a:ext cx="33832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011680"/>
            <a:ext cx="160020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057400"/>
            <a:ext cx="145389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Optical conv
16 x 7x7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70832" y="2450592"/>
            <a:ext cx="47548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2011680"/>
            <a:ext cx="160020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2057400"/>
            <a:ext cx="145389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ReLU + Pool
pooled=6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19672" y="2450592"/>
            <a:ext cx="47548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0" y="2011680"/>
            <a:ext cx="160020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057400"/>
            <a:ext cx="145389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FC backend
hidden=256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8512" y="2450592"/>
            <a:ext cx="475488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9720" y="2011680"/>
            <a:ext cx="160020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057400"/>
            <a:ext cx="145389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Binary
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794760"/>
            <a:ext cx="9784080" cy="100584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3794760"/>
            <a:ext cx="64008" cy="10058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" y="3904488"/>
            <a:ext cx="946404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锁定配置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270248"/>
            <a:ext cx="9464040" cy="43891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input_size=64, optical_kernels=16, kernel_size=7, pooled_size=6, hidden_dim=256, activation=ReLU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主结果：teacher 与 R1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在最佳阈值下达到 F1=0.8571，已经具备原型价值。</a:t>
            </a:r>
          </a:p>
        </p:txBody>
      </p:sp>
      <p:pic>
        <p:nvPicPr>
          <p:cNvPr id="7" name="Picture 6" descr="fabric_teacher_student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046" y="987552"/>
            <a:ext cx="816714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阈值敏感性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默认阈值会低估模型，部署前需要阈值校准。</a:t>
            </a:r>
          </a:p>
        </p:txBody>
      </p:sp>
      <p:pic>
        <p:nvPicPr>
          <p:cNvPr id="7" name="Picture 6" descr="fabric_r1_threshold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551" y="987552"/>
            <a:ext cx="798213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optical kernels 与正负拆分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Student kernels 可以导出，并转为 positive / negative PSF 目标。</a:t>
            </a:r>
          </a:p>
        </p:txBody>
      </p:sp>
      <p:pic>
        <p:nvPicPr>
          <p:cNvPr id="7" name="Picture 6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66" y="987552"/>
            <a:ext cx="4839826" cy="4983480"/>
          </a:xfrm>
          <a:prstGeom prst="rect">
            <a:avLst/>
          </a:prstGeom>
        </p:spPr>
      </p:pic>
      <p:pic>
        <p:nvPicPr>
          <p:cNvPr id="8" name="Picture 7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906" y="987552"/>
            <a:ext cx="483982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Fabric 计算量和硬件意义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证明早期特征提取可被压缩到更轻的光电混合形式。</a:t>
            </a:r>
          </a:p>
        </p:txBody>
      </p:sp>
      <p:pic>
        <p:nvPicPr>
          <p:cNvPr id="7" name="Picture 6" descr="fabric_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6413"/>
            <a:ext cx="5486400" cy="232801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4663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Teacher CNN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26.08M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733.77M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R1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0.149M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7.37M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Reduction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175x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99.5x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251960"/>
            <a:ext cx="4663440" cy="86868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251960"/>
            <a:ext cx="64008" cy="868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4361688"/>
            <a:ext cx="434340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汇报口径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727448"/>
            <a:ext cx="4343400" cy="30175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这些是理论 MAC/参数量估计，用于说明硬件意义，不等价于实测速度。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/ SegDecNet：工业纹理缺陷分割任务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更接近真实工业纹理异常定位和分割任务。</a:t>
            </a:r>
          </a:p>
        </p:txBody>
      </p:sp>
      <p:pic>
        <p:nvPicPr>
          <p:cNvPr id="7" name="Picture 6" descr="mask_visualization_contact_shee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81" y="1078992"/>
            <a:ext cx="4801772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234440"/>
            <a:ext cx="406908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234440"/>
            <a:ext cx="64008" cy="10515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8" y="1344168"/>
            <a:ext cx="374904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任务形式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1709928"/>
            <a:ext cx="3749040" cy="4846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输入灰度工业纹理图像，输出 image-level defect score 与 pixel-level mask。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606040"/>
            <a:ext cx="406908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2606040"/>
            <a:ext cx="64008" cy="1051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2715768"/>
            <a:ext cx="374904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为什么更关键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3081528"/>
            <a:ext cx="3749040" cy="4846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它不仅要判断有没有缺陷，还要定位缺陷区域。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977639"/>
            <a:ext cx="4069080" cy="10515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977639"/>
            <a:ext cx="64008" cy="10515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4087367"/>
            <a:ext cx="374904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本章角色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4453127"/>
            <a:ext cx="3749040" cy="4846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这是当前主结果，展示完整蒸馏、分割、PSF 和硬件意义闭环。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原始 SegDecNet teacher：共享卷积 volume + 分割/分类头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SegDecNet teacher 提供分割与分类联合监督，是 optical student 蒸馏的核心来源。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1417320" cy="73152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03120"/>
            <a:ext cx="1271016" cy="6400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Input
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920240"/>
            <a:ext cx="1828800" cy="10058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1965960"/>
            <a:ext cx="1682496" cy="91440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Shared conv
backbone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234440"/>
            <a:ext cx="1645920" cy="7772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280160"/>
            <a:ext cx="1499616" cy="68580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Segmentation
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788920"/>
            <a:ext cx="1645920" cy="7772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2834640"/>
            <a:ext cx="1499616" cy="68580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Feature
extractor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788920"/>
            <a:ext cx="1645920" cy="7772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2834640"/>
            <a:ext cx="1499616" cy="68580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FC
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011680"/>
            <a:ext cx="1645920" cy="7772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2057400"/>
            <a:ext cx="1499616" cy="68580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Mask +
defect 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2423160"/>
            <a:ext cx="320040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343400" y="1645920"/>
            <a:ext cx="457200" cy="59436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43400" y="2560320"/>
            <a:ext cx="457200" cy="621792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46520" y="3182112"/>
            <a:ext cx="548640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641080" y="2423160"/>
            <a:ext cx="548640" cy="758952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6520" y="1645920"/>
            <a:ext cx="2743200" cy="59436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97280" y="4297680"/>
            <a:ext cx="9966960" cy="77724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4297680"/>
            <a:ext cx="64008" cy="7772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4407408"/>
            <a:ext cx="964692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蒸馏重点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773168"/>
            <a:ext cx="9646920" cy="21031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student 不是只训练 segonly，而是保留 SegDecNet 的分割、特征提取和分类骨架，同时把早期 volume 前端改成 optical convolution bank。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optical student：单层 optical bank + 轻量电子后端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光学前端承担早期卷积，电子后端保留关键非线性决策能力。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4173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16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11680"/>
            <a:ext cx="12710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Input
256x256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7672" y="2395728"/>
            <a:ext cx="256032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40280" y="1965960"/>
            <a:ext cx="14173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011680"/>
            <a:ext cx="12710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Optical conv bank
64 x 15x15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85032" y="2395728"/>
            <a:ext cx="621792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3400" y="1965960"/>
            <a:ext cx="14173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011680"/>
            <a:ext cx="12710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FeatureNorm
+ ReLU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88152" y="2395728"/>
            <a:ext cx="347472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1965960"/>
            <a:ext cx="14173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011680"/>
            <a:ext cx="12710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AvgPool
stride=4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6952" y="2395728"/>
            <a:ext cx="210312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1965960"/>
            <a:ext cx="14173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2011680"/>
            <a:ext cx="12710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Seg head
+ volume concat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08592" y="2395728"/>
            <a:ext cx="301752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1965960"/>
            <a:ext cx="1417320" cy="86868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2011680"/>
            <a:ext cx="1271016" cy="7772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200" b="1">
                <a:solidFill>
                  <a:srgbClr val="24324A"/>
                </a:solidFill>
                <a:latin typeface="Arial"/>
              </a:rPr>
              <a:t>Extractor
+ FC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886200"/>
            <a:ext cx="4800600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886200"/>
            <a:ext cx="64008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995928"/>
            <a:ext cx="44805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光学部分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61688"/>
            <a:ext cx="4480560" cy="34747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单层 convolution bank，是后续 PSF / metasurface 映射的主要对象。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886200"/>
            <a:ext cx="4800600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3886200"/>
            <a:ext cx="64008" cy="914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3995928"/>
            <a:ext cx="44805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电子部分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361688"/>
            <a:ext cx="4480560" cy="34747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seg head、extractor、FC 参数不多但功能关键，因此保留骨架并适度简化。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两阶段蒸馏训练策略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先对齐 optical/segmentation，再联合训练全 student，更适合当前任务。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74920" cy="182880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64008" cy="182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35608"/>
            <a:ext cx="475488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Stage 1: frontend / segmentation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4754880" cy="126187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重点强化 segmentation distillation、volume KD 和 mask soft target。
目标是先让 optical bank 学到与 teacher volume 对齐的前端响应。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074920" cy="182880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64008" cy="1828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435608"/>
            <a:ext cx="475488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Stage 2: joint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801368"/>
            <a:ext cx="4754880" cy="126187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联合 classification、segmentation、volume distillation 和 task loss。
目标是恢复完整 SegDecNet-style 决策能力。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240280"/>
            <a:ext cx="484632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834640" y="3840480"/>
          <a:ext cx="64922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seg KD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volume 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task cls loss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joint stage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0.50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架构探索与最终选择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最终选择在性能、参数量和物理友好性之间折中。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417320"/>
          <a:ext cx="10469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Design axis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Final choice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256x256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保留足够分割细节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optical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64 kernels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容量比 32 更稳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kernel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15x15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纹理/边缘感受野更强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downsample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AvgPool stride=4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降低电子后端计算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two-stage KD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比单一 segonly 更符合最终目标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4937760"/>
            <a:ext cx="996696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ctr"/>
            <a:r>
              <a:rPr sz="1800" b="1">
                <a:solidFill>
                  <a:srgbClr val="163A6C"/>
                </a:solidFill>
                <a:latin typeface="Arial"/>
              </a:rPr>
              <a:t>最终主线：256 / optical64 / kernel15 / downsample4 / two-stage distillation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最优 student 定量结果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Full validation 上 IoU=0.9145、Dice=0.9349，结果很强。</a:t>
            </a:r>
          </a:p>
        </p:txBody>
      </p:sp>
      <p:pic>
        <p:nvPicPr>
          <p:cNvPr id="7" name="Picture 6" descr="dagm_full_valid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3060"/>
            <a:ext cx="5852160" cy="3291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95160" y="1417320"/>
          <a:ext cx="3840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AP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IoU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0.9145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0.9349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0.9958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0.9176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mask 定性结果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预测热图基本落在真实缺陷区域，mask 偏紧但误检少。</a:t>
            </a:r>
          </a:p>
        </p:txBody>
      </p:sp>
      <p:pic>
        <p:nvPicPr>
          <p:cNvPr id="7" name="Picture 6" descr="mask_visualization_contact_shee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595" y="987552"/>
            <a:ext cx="555204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threshold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student 默认阈值 0.5 已经稳定，不是靠手调阈值刷分。</a:t>
            </a:r>
          </a:p>
        </p:txBody>
      </p:sp>
      <p:pic>
        <p:nvPicPr>
          <p:cNvPr id="7" name="Picture 6" descr="dagm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60" y="987552"/>
            <a:ext cx="78943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optical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呈现纹理、边缘和方向性结构，并需要 positive/negative split。</a:t>
            </a:r>
          </a:p>
        </p:txBody>
      </p:sp>
      <p:pic>
        <p:nvPicPr>
          <p:cNvPr id="7" name="Picture 6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87552"/>
            <a:ext cx="4983480" cy="4983480"/>
          </a:xfrm>
          <a:prstGeom prst="rect">
            <a:avLst/>
          </a:prstGeom>
        </p:spPr>
      </p:pic>
      <p:pic>
        <p:nvPicPr>
          <p:cNvPr id="8" name="Picture 7" descr="kernel_grid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987552"/>
            <a:ext cx="49834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PSF target 与 backphase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已经可以稳定转成单波长 target PSF 和初始 backphase。</a:t>
            </a:r>
          </a:p>
        </p:txBody>
      </p:sp>
      <p:pic>
        <p:nvPicPr>
          <p:cNvPr id="7" name="Picture 6" descr="psf_target_cent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7702"/>
            <a:ext cx="5166360" cy="2583180"/>
          </a:xfrm>
          <a:prstGeom prst="rect">
            <a:avLst/>
          </a:prstGeom>
        </p:spPr>
      </p:pic>
      <p:pic>
        <p:nvPicPr>
          <p:cNvPr id="8" name="Picture 7" descr="psf_backphas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987552"/>
            <a:ext cx="49834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Metasurface feasibility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代表 kernel 的 PSF 拟合相似度达到 0.979-0.991，物理可实现性初步成立。</a:t>
            </a:r>
          </a:p>
        </p:txBody>
      </p:sp>
      <p:pic>
        <p:nvPicPr>
          <p:cNvPr id="7" name="Picture 6" descr="kernel00_posi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9642"/>
            <a:ext cx="5166360" cy="3179298"/>
          </a:xfrm>
          <a:prstGeom prst="rect">
            <a:avLst/>
          </a:prstGeom>
        </p:spPr>
      </p:pic>
      <p:pic>
        <p:nvPicPr>
          <p:cNvPr id="8" name="Picture 7" descr="metasurface_probe_cosin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87702"/>
            <a:ext cx="5166360" cy="25831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计算量节省与硬件意义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电子后端 MACs 可理论上降到 teacher 的很小比例，硬件意义明确。</a:t>
            </a:r>
          </a:p>
        </p:txBody>
      </p:sp>
      <p:pic>
        <p:nvPicPr>
          <p:cNvPr id="7" name="Picture 6" descr="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0226"/>
            <a:ext cx="5349240" cy="300894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91640"/>
          <a:ext cx="4709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Ratio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Params reduction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338x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Digital student MACs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21.8x fewer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Hybrid backend MACs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905x fewer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vs 512 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3618x fewer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572000"/>
            <a:ext cx="4709160" cy="68580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0"/>
            <a:ext cx="64008" cy="685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4681728"/>
            <a:ext cx="438912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5047488"/>
            <a:ext cx="4389120" cy="11887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这是理论电子 MAC reduction，不等价于最终实测速度。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DAGM 小结：从蒸馏到物理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已形成“蒸馏 -&gt; kernel -&gt; PSF target -&gt; feasibility probe”的完整链路。</a:t>
            </a:r>
          </a:p>
        </p:txBody>
      </p:sp>
      <p:pic>
        <p:nvPicPr>
          <p:cNvPr id="7" name="Picture 6" descr="research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902" y="987552"/>
            <a:ext cx="908143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两个案例对照总结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验证方法起点，DAGM 验证高性能分割闭环。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61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330"/>
                <a:gridCol w="2640330"/>
                <a:gridCol w="2640330"/>
                <a:gridCol w="264033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Best result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Fabric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patch 二分类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R1 F1=0.8571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低分辨率 optical student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DAGM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分类 + 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IoU=0.9145, Dice=0.9349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蒸馏到 PSF probe 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05840" y="4069080"/>
            <a:ext cx="10012680" cy="91440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64008" cy="914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4178808"/>
            <a:ext cx="969264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递进关系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544568"/>
            <a:ext cx="9692640" cy="34747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从 Fabric 的小型二分类 demo，到 DAGM 的分割主结果，课题已经形成从算法蒸馏到物理映射入口的连续证据链。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当前阶段已完成贡献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课题已经从算法实验推进到超表面映射入口。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33375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33375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27048"/>
            <a:ext cx="31089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1. 模型蒸馏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8"/>
            <a:ext cx="3108960" cy="27706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完成 Fabric 和 DAGM 两条 teacher-student 路线，明确 optical frontend 的任务能力边界。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33375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3337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27048"/>
            <a:ext cx="31089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2. 光学前端设计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8"/>
            <a:ext cx="3108960" cy="27706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导出 learned kernels，完成 signed / positive / negative split，并形成 PSF target。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3337560"/>
          </a:xfrm>
          <a:prstGeom prst="roundRect">
            <a:avLst/>
          </a:prstGeom>
          <a:solidFill>
            <a:srgbClr val="F8FA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64008" cy="33375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27048"/>
            <a:ext cx="3108960" cy="27432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400" b="1">
                <a:solidFill>
                  <a:srgbClr val="163A6C"/>
                </a:solidFill>
                <a:latin typeface="Arial"/>
              </a:rPr>
              <a:t>3. 物理可行性验证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92808"/>
            <a:ext cx="3108960" cy="2770632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24324A"/>
                </a:solidFill>
                <a:latin typeface="Arial"/>
              </a:rPr>
              <a:t>代表 kernel 的 metasurface probe 已达到较高 PSF 相似度，说明路线初步可行。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下一步工作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下一阶段重点是把 simulated PSF 放回模型链路评估性能下降。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1417320"/>
          <a:ext cx="101498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163A6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Hardware-aware retraining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加入 PSF 误差、噪声和 calibration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Simulated PSF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用模拟 PSF 替代 digital kernels 重新评估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Physical parameter sweep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优化波长、距离、ROI、迭代次数和结构约束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Real optical experiment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4324A"/>
                          </a:solidFill>
                        </a:rPr>
                        <a:t>搭建 metasurface + sensor 验证闭环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ybrid_optic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121" y="4709160"/>
            <a:ext cx="220899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2200" b="1">
                <a:solidFill>
                  <a:srgbClr val="163A6C"/>
                </a:solidFill>
                <a:latin typeface="Arial"/>
              </a:rPr>
              <a:t>未来展望：从分类/分割到定位检测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56032"/>
            <a:ext cx="2011680" cy="320040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54496"/>
            <a:ext cx="1115568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2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81928"/>
            <a:ext cx="10835640" cy="283464"/>
          </a:xfrm>
          <a:prstGeom prst="rect">
            <a:avLst/>
          </a:prstGeom>
          <a:noFill/>
        </p:spPr>
        <p:txBody>
          <a:bodyPr wrap="none" lIns="54864" rIns="54864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后续可扩展到 YOLO、芯片、PCB、wafer 等定位检测任务。</a:t>
            </a:r>
          </a:p>
        </p:txBody>
      </p:sp>
      <p:pic>
        <p:nvPicPr>
          <p:cNvPr id="7" name="Picture 6" descr="future_yolo_chip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902" y="987552"/>
            <a:ext cx="9081435" cy="5074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