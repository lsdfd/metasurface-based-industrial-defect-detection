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412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3000" b="1">
                <a:solidFill>
                  <a:srgbClr val="163A6C"/>
                </a:solidFill>
                <a:latin typeface="Arial"/>
              </a:rPr>
              <a:t>超表面光学前端辅助的工业缺陷检测方法研究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331720"/>
            <a:ext cx="96926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600" b="0">
                <a:solidFill>
                  <a:srgbClr val="24324A"/>
                </a:solidFill>
                <a:latin typeface="Arial"/>
              </a:rPr>
              <a:t>Metasurface-based Optical Frontend for Industrial Defect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3063240"/>
            <a:ext cx="809244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39319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2000" b="1">
                <a:solidFill>
                  <a:srgbClr val="163A6C"/>
                </a:solidFill>
                <a:latin typeface="Arial"/>
              </a:rPr>
              <a:t>李升欣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407408"/>
            <a:ext cx="44805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500" b="0">
                <a:solidFill>
                  <a:srgbClr val="24324A"/>
                </a:solidFill>
                <a:latin typeface="Arial"/>
              </a:rPr>
              <a:t>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5F6F84"/>
                </a:solidFill>
                <a:latin typeface="Arial"/>
              </a:rPr>
              <a:t>Fabric 二分类验证  |  DAGM / SegDecNet 缺陷分割闭环  |  Kernel-to-PSF 物理映射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背景：工业缺陷检测与超表面机器视觉前端的交叉点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工业质检需要高速低功耗视觉前端，而超表面提供了把早期卷积前移到成像链路的硬件入口。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3977639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backgroun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4391"/>
            <a:ext cx="3831335" cy="2141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051560"/>
            <a:ext cx="31546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54864" cy="1143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1124712"/>
            <a:ext cx="28803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工业检测痛点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463040"/>
            <a:ext cx="286207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高分辨率图像带来大量 early convolution MACs；缺陷往往稀疏、细小，边缘部署还受功耗和延迟约束。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05156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051560"/>
            <a:ext cx="54864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124712"/>
            <a:ext cx="30632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传统电子模型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463040"/>
            <a:ext cx="304495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CNN classifier、U-Net/SegNet/SegDecNet、YOLO 等模型通常依赖电子端卷积前端。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514600"/>
            <a:ext cx="31546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514600"/>
            <a:ext cx="54864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587752"/>
            <a:ext cx="28803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超表面机会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926080"/>
            <a:ext cx="286207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通过 PSF / optical convolution bank 在成像阶段编码早期特征，减少后端电子计算压力。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51460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514600"/>
            <a:ext cx="54864" cy="114300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2587752"/>
            <a:ext cx="30632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本课题切入点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926080"/>
            <a:ext cx="304495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不是做全光学 detector，而是做 metasurface optical frontend + lightweight electronic backend。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1074420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800" b="1">
                <a:solidFill>
                  <a:srgbClr val="163A6C"/>
                </a:solidFill>
                <a:latin typeface="Arial"/>
              </a:rPr>
              <a:t>交叉问题：超表面光学前端是否能为工业缺陷检测承担早期卷积特征提取，并在保持任务性能的同时降低电子计算量？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传统工业视觉模型：性能来自电子卷积前端，但计算压力也集中在这里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传统 CNN/YOLO/Segmentation 模型都依赖电子端 early feature extraction。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50876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41732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Industrial
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1901952"/>
            <a:ext cx="466344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150876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36192"/>
            <a:ext cx="141732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Electronic
CNN 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25112" y="1901952"/>
            <a:ext cx="740664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1508760"/>
            <a:ext cx="150876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536192"/>
            <a:ext cx="141732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Feature
maps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56831" y="1901952"/>
            <a:ext cx="466345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1508760"/>
            <a:ext cx="150876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536192"/>
            <a:ext cx="141732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Task head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14232" y="1901952"/>
            <a:ext cx="466344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1508760"/>
            <a:ext cx="150876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36192"/>
            <a:ext cx="141732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926080"/>
            <a:ext cx="32004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926080"/>
            <a:ext cx="54864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2999232"/>
            <a:ext cx="2926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337560"/>
            <a:ext cx="290779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Binary CNN / ResNet style classifier
输出：defect / normal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926080"/>
            <a:ext cx="32004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926080"/>
            <a:ext cx="54864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2999232"/>
            <a:ext cx="2926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分割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337560"/>
            <a:ext cx="290779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U-Net / SegNet / SegDecNet
输出：pixel-level defect mask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926080"/>
            <a:ext cx="32004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2926080"/>
            <a:ext cx="54864" cy="1143000"/>
          </a:xfrm>
          <a:prstGeom prst="rect">
            <a:avLst/>
          </a:prstGeom>
          <a:solidFill>
            <a:srgbClr val="E6A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999232"/>
            <a:ext cx="2926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检测定位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337560"/>
            <a:ext cx="290779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YOLO / detector style model
输出：defect bounding boxes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46320"/>
            <a:ext cx="102870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800" b="1">
                <a:solidFill>
                  <a:srgbClr val="E76F51"/>
                </a:solidFill>
                <a:latin typeface="Arial"/>
              </a:rPr>
              <a:t>瓶颈：高分辨率输入上的早期卷积层通常占据大量 MACs，且必须在电子端逐帧计算。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方法总览：从传统电子模型到光电融合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这张图对应本课题的整体方法主图：传统模型、蒸馏、光学卷积和物理映射在同一条链路中。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24128"/>
            <a:ext cx="6629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methodology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84374"/>
            <a:ext cx="6483096" cy="36229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143000"/>
            <a:ext cx="38862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143000"/>
            <a:ext cx="54864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1216152"/>
            <a:ext cx="3611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传统模型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1554480"/>
            <a:ext cx="359359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CNN / YOLO / SegDecNet 在电子端完成特征提取和任务 head。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423160"/>
            <a:ext cx="38862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423160"/>
            <a:ext cx="54864" cy="960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496312"/>
            <a:ext cx="3611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蒸馏迁移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834640"/>
            <a:ext cx="359359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Teacher 输出、mask 和中间 volume 监督 optical student。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703320"/>
            <a:ext cx="38862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370332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3776472"/>
            <a:ext cx="3611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物理映射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114800"/>
            <a:ext cx="359359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Learned kernels 经正负拆分后转为 PSF / metasurface optimization target。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光电融合架构：用超表面承担早期卷积，用电子后端完成非线性决策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本课题的核心是把最早期、最昂贵的特征提取前移到成像链路。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Sample
illumination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64792" y="1783080"/>
            <a:ext cx="34747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48840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Metasurface
PSF bank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2152" y="1783080"/>
            <a:ext cx="438911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CMOS sensor
feature 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0952" y="1783080"/>
            <a:ext cx="43891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06440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Calibration
/ normalization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59752" y="1783080"/>
            <a:ext cx="53035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399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Electronic
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9992" y="1783080"/>
            <a:ext cx="53035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137160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39903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Defect score
/ mask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43200"/>
            <a:ext cx="4663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2_hybrid_opt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15" y="2816352"/>
            <a:ext cx="3828929" cy="213969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577840" y="2788920"/>
            <a:ext cx="27432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278892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2862072"/>
            <a:ext cx="2468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光学端做什么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3200400"/>
            <a:ext cx="245059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实现 CNN-like convolution / PSF feature encoding，输出多通道光学响应。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788920"/>
            <a:ext cx="27432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41080" y="2788920"/>
            <a:ext cx="54864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2862072"/>
            <a:ext cx="2468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电子端做什么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3200400"/>
            <a:ext cx="245059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负责 calibration、非线性、分割/分类/检测 head，保持任务表达能力。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4160520"/>
            <a:ext cx="580644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4160520"/>
            <a:ext cx="54864" cy="91440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4233672"/>
            <a:ext cx="553212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表述边界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4572000"/>
            <a:ext cx="5513832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我们不声称“超表面实现完整神经网络”，而是构建 hybrid optical-electronic defect detection。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蒸馏训练：把强电子 teacher 的任务能力迁移到 optical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蒸馏是连接高性能电子模型和物理友好 student 的核心桥梁。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0116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19202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Frozen teacher
CNN / SegDecNet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20116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19202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Trainable student
optical + electronic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19072"/>
            <a:ext cx="1828800" cy="0"/>
          </a:xfrm>
          <a:prstGeom prst="line">
            <a:avLst/>
          </a:prstGeom>
          <a:ln w="25400">
            <a:solidFill>
              <a:srgbClr val="163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3319272"/>
            <a:ext cx="18288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1325880"/>
            <a:ext cx="20116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353312"/>
            <a:ext cx="19202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Teacher outputs
logits / masks /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26080"/>
            <a:ext cx="20116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953512"/>
            <a:ext cx="19202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Student outputs
score / mask / volume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20840" y="2514600"/>
            <a:ext cx="1005839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20" y="2011680"/>
            <a:ext cx="2148840" cy="10058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039112"/>
            <a:ext cx="2057400" cy="9509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KD + task
losses</a:t>
            </a:r>
          </a:p>
        </p:txBody>
      </p:sp>
      <p:pic>
        <p:nvPicPr>
          <p:cNvPr id="20" name="Picture 19" descr="kd_los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46" y="4343400"/>
            <a:ext cx="6157986" cy="6858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195560" y="1143000"/>
            <a:ext cx="1325880" cy="42976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95560" y="1143000"/>
            <a:ext cx="54864" cy="4297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60152" y="1216152"/>
            <a:ext cx="1051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100" b="1">
                <a:solidFill>
                  <a:srgbClr val="163A6C"/>
                </a:solidFill>
                <a:latin typeface="Arial"/>
              </a:rPr>
              <a:t>Loss 含义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0152" y="1554480"/>
            <a:ext cx="1033272" cy="38221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850" b="0">
                <a:solidFill>
                  <a:srgbClr val="24324A"/>
                </a:solidFill>
                <a:latin typeface="Arial"/>
              </a:rPr>
              <a:t>task：真实标签
cls：分类软输出
seg：soft mask
vol：中间特征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从 learned kernel 到超表面 PSF：正负拆分是物理映射入口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光强非负约束决定了 signed kernels 必须拆成 positive / negative 两路。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Learned
kernel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1719072"/>
            <a:ext cx="42976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Positive
K+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30752" y="1719072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Negative
K-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13831" y="1719072"/>
            <a:ext cx="429769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8932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Target
PSF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42631" y="1719072"/>
            <a:ext cx="47548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6A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Phase / radius
optimization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17152" y="1719072"/>
            <a:ext cx="429767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1325880"/>
            <a:ext cx="132588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353312"/>
            <a:ext cx="123444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Simulated
PSF</a:t>
            </a:r>
          </a:p>
        </p:txBody>
      </p:sp>
      <p:pic>
        <p:nvPicPr>
          <p:cNvPr id="24" name="Picture 23" descr="kernel_spli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89" y="2514600"/>
            <a:ext cx="6614381" cy="65836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1520" y="3657600"/>
            <a:ext cx="32918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sf_target_cente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62756"/>
            <a:ext cx="3145536" cy="15727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434840" y="3429000"/>
            <a:ext cx="3749039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kernel00_positive_pr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04" y="3502152"/>
            <a:ext cx="3402711" cy="209397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549640" y="3703320"/>
            <a:ext cx="274320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3703320"/>
            <a:ext cx="54864" cy="1600200"/>
          </a:xfrm>
          <a:prstGeom prst="rect">
            <a:avLst/>
          </a:prstGeom>
          <a:solidFill>
            <a:srgbClr val="E6A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3776472"/>
            <a:ext cx="24688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谨慎口径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4114800"/>
            <a:ext cx="2450592" cy="11247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当前是 first-pass physical feasibility probe：证明 PSF 形状初步可拟合，还不是最终器件制造结果。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两个实验案例：从二分类 demo 到分割主结果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验证低分辨率 optical student；DAGM 验证完整缺陷分割闭环。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303520" cy="42062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54864" cy="4206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0432"/>
            <a:ext cx="50292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案例一：Fabric / AITEX 织物缺陷二分类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08760"/>
            <a:ext cx="5010912" cy="3730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工业场景：织物表面缺陷检测
输入：fabric 长条图像切成 patch
输出：patch-level normal / defective
模型：Binary CNN teacher -&gt; R1 optical student
作用：验证一层 optical frontend 和低分辨率输入是否可行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03520" cy="42062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4864" cy="42062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170432"/>
            <a:ext cx="50292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案例二：DAGM Class7 纹理缺陷分割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508760"/>
            <a:ext cx="5010912" cy="3730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工业场景：纹理表面异常/划痕类缺陷
输入：灰度工业纹理图像
输出：image-level defect score + pixel-level mask
模型：SegDecNet teacher -&gt; optical student
作用：验证高性能分割、PSF target 和 metasurface probe 闭环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/ AITEX：织物表面缺陷的 patch 二分类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这个案例检测的是织物 patch 是否存在缺陷，不输出缺陷具体位置。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4069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fabric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88862"/>
            <a:ext cx="3922776" cy="21921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83480" y="1188720"/>
            <a:ext cx="1508760" cy="68580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16152"/>
            <a:ext cx="1417320" cy="6309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Long fabric
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188720"/>
            <a:ext cx="1508760" cy="68580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216152"/>
            <a:ext cx="1417320" cy="6309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256x256
patches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188720"/>
            <a:ext cx="1508760" cy="68580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216152"/>
            <a:ext cx="1417320" cy="6309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Binary
classifier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1188720"/>
            <a:ext cx="1143000" cy="68580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216152"/>
            <a:ext cx="1051560" cy="6309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950" b="1">
                <a:solidFill>
                  <a:srgbClr val="24324A"/>
                </a:solidFill>
                <a:latin typeface="Arial"/>
              </a:rPr>
              <a:t>OK / 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10528" y="1527048"/>
            <a:ext cx="21031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47888" y="1527048"/>
            <a:ext cx="21031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85248" y="1527048"/>
            <a:ext cx="21031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83480" y="2331720"/>
            <a:ext cx="29260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2331720"/>
            <a:ext cx="54864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240487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任务定义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2743200"/>
            <a:ext cx="263347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Patch-level binary classification：判断当前织物 patch 是否包含缺陷。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331720"/>
            <a:ext cx="306324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331720"/>
            <a:ext cx="54864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2404872"/>
            <a:ext cx="278892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为什么适合作为第一例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743200"/>
            <a:ext cx="2770632" cy="6675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链路短、指标清楚，能快速检验 optical convolution bank 是否有判别能力。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886200"/>
            <a:ext cx="635508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3886200"/>
            <a:ext cx="54864" cy="960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3959352"/>
            <a:ext cx="60807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注意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4297680"/>
            <a:ext cx="606247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Fabric 本章不讲 U-Net，不讲 mask 定位；它的角色是二分类 demo 和架构起点。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teacher：电子 CNN 二分类基线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Teacher 提供强电子基线，student 学的是 patch defect / normal 判别能力。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600200" cy="804672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Patch
256x256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1819656"/>
            <a:ext cx="24688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1417320"/>
            <a:ext cx="1600200" cy="804672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444752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Conv blocks
feature extraction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87952" y="1819656"/>
            <a:ext cx="47548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417320"/>
            <a:ext cx="1600200" cy="804672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44752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Flatten / FC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36792" y="1819656"/>
            <a:ext cx="24688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29400" y="1417320"/>
            <a:ext cx="1600200" cy="804672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44752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Sigmoid
score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57031" y="1819656"/>
            <a:ext cx="24688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49640" y="1417320"/>
            <a:ext cx="1600200" cy="804672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444752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Defect?
Yes / No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828800" y="2971800"/>
          <a:ext cx="85496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4820"/>
                <a:gridCol w="427482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Teacher model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Binary CNN classifier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Reference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≈ 0.975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Student target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distill / approximate binary decision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Industrial meaning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fast patch-level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463040" y="4800600"/>
            <a:ext cx="932688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4800600"/>
            <a:ext cx="54864" cy="685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4873752"/>
            <a:ext cx="9052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后续替换点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212080"/>
            <a:ext cx="9034272" cy="2103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Student 不复制完整 teacher，而是用一层 optical convolution bank 承担前端响应，再接轻量电子后端。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R1 student：64×64 输入 + 单层 optical convolution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最关键经验是降低输入分辨率后，浅层 optical student 变得可用。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7373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6459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24324A"/>
                </a:solidFill>
                <a:latin typeface="Arial"/>
              </a:rPr>
              <a:t>Input
64x64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1828800"/>
            <a:ext cx="2743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417320"/>
            <a:ext cx="17373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444752"/>
            <a:ext cx="16459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24324A"/>
                </a:solidFill>
                <a:latin typeface="Arial"/>
              </a:rPr>
              <a:t>OpticalConvBank
16 kernels, 7x7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8" y="1828800"/>
            <a:ext cx="57607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1417320"/>
            <a:ext cx="17373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44752"/>
            <a:ext cx="16459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24324A"/>
                </a:solidFill>
                <a:latin typeface="Arial"/>
              </a:rPr>
              <a:t>ReLU + pooling
pooled=6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6248" y="1828800"/>
            <a:ext cx="30175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417320"/>
            <a:ext cx="17373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444752"/>
            <a:ext cx="16459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24324A"/>
                </a:solidFill>
                <a:latin typeface="Arial"/>
              </a:rPr>
              <a:t>FC backend
hidden=256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7" y="1828800"/>
            <a:ext cx="438913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0" y="1417320"/>
            <a:ext cx="17373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44752"/>
            <a:ext cx="16459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24324A"/>
                </a:solidFill>
                <a:latin typeface="Arial"/>
              </a:rPr>
              <a:t>Sigmoid
binary score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0120" y="2971800"/>
          <a:ext cx="48920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input_size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optical_kernels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kernel_size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pooled_size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2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hidden_dim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309360" y="3063240"/>
            <a:ext cx="4663440" cy="173736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063240"/>
            <a:ext cx="54864" cy="1737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136392"/>
            <a:ext cx="438912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设计解释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74720"/>
            <a:ext cx="4370832" cy="1261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光学端只保留一层 convolution bank，贴近未来 PSF/超表面实现；电子端用小 FC backend 完成非线性判别。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结果：R1 student 需要阈值校准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校准后 F1=0.8571，说明模型已学到有效判别特征。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5486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student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225811"/>
            <a:ext cx="5340096" cy="3318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1078992"/>
            <a:ext cx="51663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bric_r1_threshold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289094"/>
            <a:ext cx="5020056" cy="319167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4983480"/>
          <a:ext cx="100584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Default threshold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Best threshold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0.2353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0.8571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Precision /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not main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0.75 / 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learned kernels：从二分类 student 到 PSF 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Student kernels 可以导出，并转为 positive / negative PSF 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5" y="1124712"/>
            <a:ext cx="3188069" cy="32826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43400" y="10515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65" y="1124712"/>
            <a:ext cx="3188069" cy="32826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0515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905" y="1124712"/>
            <a:ext cx="3188069" cy="32826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" y="4846320"/>
            <a:ext cx="1042416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846320"/>
            <a:ext cx="54864" cy="7315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919472"/>
            <a:ext cx="101498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观察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257800"/>
            <a:ext cx="1013155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Signed kernels 同时包含正负响应；由于光强非负，后续超表面映射需要 positive / negative 双路 PSF。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计算量：小型 student 显著压缩电子计算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是小而清晰的 demo，验证了压缩 early feature extraction 的方法价值。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890793"/>
            <a:ext cx="5202936" cy="220773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17320"/>
          <a:ext cx="4709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Teacher CNN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26.08M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733.77M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R1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0.149M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7.37M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Reduction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≈175×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≈99.5×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3977639"/>
            <a:ext cx="470916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3977639"/>
            <a:ext cx="54864" cy="868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050791"/>
            <a:ext cx="44348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汇报口径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4389119"/>
            <a:ext cx="4416552" cy="3931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这是理论参数/MACs 对比，用于说明硬件意义；最终速度还取决于曝光、读出、ADC 和电子实现。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小结：方法起点，而不是最终主结果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证明低分辨率 optical student 这条路能跑通，并为 DAGM 主结果提供经验。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3246120" cy="33832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54864" cy="33832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0759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1. 任务层面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45920"/>
            <a:ext cx="2953512" cy="29077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织物 patch 二分类，输出 defect / normal，不做缺陷位置分割。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246120" cy="33832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54864" cy="3383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30759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2. 模型层面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645920"/>
            <a:ext cx="2953512" cy="29077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R1 student 使用 64x64 输入和单层 optical convolution bank，最佳阈值下 F1=0.8571。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246120" cy="33832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54864" cy="338328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0759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3. 硬件层面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645920"/>
            <a:ext cx="2953512" cy="29077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Kernels 已导出并完成正负拆分，能够进入 PSF/metasurface 映射链路。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Class7：工业纹理缺陷的分类 +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这个案例不仅判断有没有缺陷，还输出缺陷区域 mask，是当前主结果。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60807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dagm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82222"/>
            <a:ext cx="5934456" cy="33163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143000"/>
            <a:ext cx="434340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143000"/>
            <a:ext cx="54864" cy="914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1216152"/>
            <a:ext cx="4069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工业场景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554480"/>
            <a:ext cx="4050792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DAGM 是工业纹理表面缺陷 benchmark；Class7 可视作纹理异常/划痕类检测场景。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377440"/>
            <a:ext cx="434340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2377440"/>
            <a:ext cx="54864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2450592"/>
            <a:ext cx="4069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输入输出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788920"/>
            <a:ext cx="4050792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输入灰度纹理图像；输出 image-level defect score 和 pixel-level defect mask。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611880"/>
            <a:ext cx="434340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3611880"/>
            <a:ext cx="54864" cy="91440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3685032"/>
            <a:ext cx="4069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为什么是主结果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4023360"/>
            <a:ext cx="4050792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它比 Fabric 更复杂，能验证蒸馏、分割、kernel、PSF 和硬件意义的完整闭环。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SegDecNet teacher：共享卷积 volume 同时服务分割与分类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Teacher 不只是 segmentation，它提供 mask 和 defect score 的联合监督。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325880" cy="73152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234440" cy="6766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Input
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920240" cy="109728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856232"/>
            <a:ext cx="1828800" cy="104241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Shared conv
backbone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097280"/>
            <a:ext cx="1645920" cy="73152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124712"/>
            <a:ext cx="1554480" cy="6766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Segmentation
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788920"/>
            <a:ext cx="1645920" cy="73152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16352"/>
            <a:ext cx="1554480" cy="6766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Feature
extractor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788920"/>
            <a:ext cx="1554480" cy="73152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816352"/>
            <a:ext cx="1463040" cy="6766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FC
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00200"/>
            <a:ext cx="169164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627632"/>
            <a:ext cx="160020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24324A"/>
                </a:solidFill>
                <a:latin typeface="Arial"/>
              </a:rPr>
              <a:t>Mask +
defect 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38528" y="2377440"/>
            <a:ext cx="3931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79392" y="1463040"/>
            <a:ext cx="521208" cy="68580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79392" y="2514600"/>
            <a:ext cx="521208" cy="64008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73952" y="1463040"/>
            <a:ext cx="2670048" cy="36576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73952" y="3154680"/>
            <a:ext cx="52120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549640" y="2148840"/>
            <a:ext cx="594360" cy="100584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" y="4343400"/>
            <a:ext cx="996696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4343400"/>
            <a:ext cx="54864" cy="822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416552"/>
            <a:ext cx="96926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蒸馏目标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754880"/>
            <a:ext cx="9674352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Student 需要同时继承 teacher 的分类能力、mask 监督和 shared volume 表征，而不是只训练 segonly。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optical student：超表面前端 + SegDecNet-style 电子后端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光学前端承担早期卷积，电子后端保留分割和分类的关键骨架。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114300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05156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Input
256x256 gray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0472" y="1737360"/>
            <a:ext cx="25603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83080" y="1325880"/>
            <a:ext cx="150876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353312"/>
            <a:ext cx="141732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OpticalConvBank
64 kernels, 15x15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9271" y="1737360"/>
            <a:ext cx="301753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1325880"/>
            <a:ext cx="123444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353312"/>
            <a:ext cx="114300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FeatureNorm
+ ReLU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9472" y="1737360"/>
            <a:ext cx="30175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1325880"/>
            <a:ext cx="13258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353312"/>
            <a:ext cx="12344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AvgPool
kernel=4,stride=4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11112" y="1737360"/>
            <a:ext cx="30175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49440" y="1325880"/>
            <a:ext cx="109728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353312"/>
            <a:ext cx="100584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Seg head
1x1 conv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74151" y="1737360"/>
            <a:ext cx="256033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66760" y="1325880"/>
            <a:ext cx="123444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6A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353312"/>
            <a:ext cx="114300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Concat
volume + mask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28632" y="1737360"/>
            <a:ext cx="25603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325880"/>
            <a:ext cx="1143000" cy="82296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353312"/>
            <a:ext cx="1051560" cy="7680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69" b="1">
                <a:solidFill>
                  <a:srgbClr val="24324A"/>
                </a:solidFill>
                <a:latin typeface="Arial"/>
              </a:rPr>
              <a:t>Extractor
+ FC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2834640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834640"/>
            <a:ext cx="54864" cy="1188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907792"/>
            <a:ext cx="48920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未来光学实现部分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246120"/>
            <a:ext cx="4873752" cy="7132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OpticalConvBank 是主要映射对象：64 个 15x15 卷积核后续拆分为 positive / negative PSF 目标。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834640"/>
            <a:ext cx="507492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34640"/>
            <a:ext cx="54864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907792"/>
            <a:ext cx="48006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电子实现部分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246120"/>
            <a:ext cx="4782312" cy="7132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FeatureNorm、seg head、extractor、FC 参数不多但功能关键，负责非线性、mask 和分类决策。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14400" y="4572000"/>
          <a:ext cx="10287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Optical bank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Seg output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Classifier output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Main result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64 x 15x15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pixel-level mask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image-level defect score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IoU=0.9145 / Dice=0.9349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两阶段蒸馏：先对齐前端/分割，再联合优化完整任务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两阶段训练比单一 segonly 更符合最终光电混合目标。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16636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54864" cy="14173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216152"/>
            <a:ext cx="48920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Stage 1: optical / segmentation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873752" cy="9418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强化 volume KD 和 segmentation KD，让 optical bank 先学到 teacher shared volume 和 soft mask。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16636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54864" cy="14173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216152"/>
            <a:ext cx="48920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Stage 2: joint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554480"/>
            <a:ext cx="4873752" cy="9418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联合 task loss、classification KD、segmentation KD 和 volume KD，恢复完整 SegDecNet-style 决策能力。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0448" y="1828800"/>
            <a:ext cx="466344" cy="0"/>
          </a:xfrm>
          <a:prstGeom prst="line">
            <a:avLst/>
          </a:prstGeom>
          <a:ln w="25400">
            <a:solidFill>
              <a:srgbClr val="163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dagm_stage_los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53" y="3063240"/>
            <a:ext cx="6973413" cy="713232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828800" y="4251960"/>
          <a:ext cx="85039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classification KD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对齐 defect score / logits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segmentation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对齐 soft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volume KD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对齐 shared feature volume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架构探索：围绕光学容量、分辨率和蒸馏权重做折中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最终选择在性能、参数量和物理友好性之间折中。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8356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Optical bank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32 -&gt; 64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64 更稳，仍保持单层光学前端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Kernel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15x15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更适合纹理/边缘响应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Downsample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AvgPool stride=4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控制电子后端计算量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Distillation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seg_kd + volume_kd 加强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让 mask 与前端 volume 更接近 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two-stage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先 warm-up 再联合优化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97280" y="4983480"/>
            <a:ext cx="992124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983480"/>
            <a:ext cx="54864" cy="68580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5056632"/>
            <a:ext cx="964692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最终主线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5394960"/>
            <a:ext cx="9628632" cy="2103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256x256 input / optical64 / kernel15 / downsample4 / two-stage KD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定量结果：分类满分，分割 IoU/Dice 较高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Full validation 上 IoU=0.9145、Dice=0.9349，且 threshold=0.5 稳定。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full_valid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54181"/>
            <a:ext cx="5477256" cy="308095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325880"/>
          <a:ext cx="4160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AP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IoU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0.9145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0.9349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0.9958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0.9176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29400" y="4572000"/>
            <a:ext cx="416052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4572000"/>
            <a:ext cx="54864" cy="685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4645152"/>
            <a:ext cx="38862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4983480"/>
            <a:ext cx="3867912" cy="2103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Precision 高于 Recall，说明 mask 偏保守、偏紧，但误检很少。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mask 定性结果：能定位缺陷区域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预测热图基本落在真实缺陷区域，mask 偏紧但误检少。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6583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61" y="1124712"/>
            <a:ext cx="4541676" cy="41513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234440"/>
            <a:ext cx="3749039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234440"/>
            <a:ext cx="54864" cy="10058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1307592"/>
            <a:ext cx="3474719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看什么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1645920"/>
            <a:ext cx="3456431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每组样例包含 input / GT mask / predicted heatmap / overlay。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06040"/>
            <a:ext cx="3749039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606040"/>
            <a:ext cx="54864" cy="10058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679192"/>
            <a:ext cx="3474719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观察一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3017520"/>
            <a:ext cx="3456431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预测区域基本贴近 GT 缺陷位置，说明不是随机激活。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77639"/>
            <a:ext cx="3749039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977639"/>
            <a:ext cx="54864" cy="10058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4050791"/>
            <a:ext cx="3474719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观察二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4389119"/>
            <a:ext cx="3456431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mask 相对偏紧，与高 Precision、稍低 Recall 的定量结果一致。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threshold sweep：默认阈值 0.5 已稳定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与 Fabric 不同，DAGM 主结果不是靠手调阈值刷出来的。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6858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2" y="1124712"/>
            <a:ext cx="6457696" cy="41513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325880"/>
            <a:ext cx="338328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9560" y="1325880"/>
            <a:ext cx="54864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399032"/>
            <a:ext cx="31089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Fabric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737360"/>
            <a:ext cx="3090672" cy="6217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二分类 student 阈值敏感，最佳阈值约 0.9。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788920"/>
            <a:ext cx="338328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2788920"/>
            <a:ext cx="54864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862072"/>
            <a:ext cx="31089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DAGM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3200400"/>
            <a:ext cx="3090672" cy="6217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默认 threshold=0.5 已经是稳定工作点。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251960"/>
            <a:ext cx="338328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4251960"/>
            <a:ext cx="54864" cy="77724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4325112"/>
            <a:ext cx="31089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汇报意义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4663440"/>
            <a:ext cx="3090672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这让 DAGM 结果更适合作为主结果展示。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learned kernels：纹理、边缘和方向响应不是随机噪声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呈现可解释结构，并需要 positive/negative split。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70332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24712"/>
            <a:ext cx="3557016" cy="35570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34840" y="1051560"/>
            <a:ext cx="342900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261872"/>
            <a:ext cx="3282696" cy="32826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051560"/>
            <a:ext cx="342900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261872"/>
            <a:ext cx="3282696" cy="32826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68680" y="5074920"/>
            <a:ext cx="10424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148072"/>
            <a:ext cx="101498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486400"/>
            <a:ext cx="10131552" cy="118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这些 kernels 是后续 PSF target 和 metasurface optimization 的直接输入。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PSF target：把 learned kernels 转成可优化的光学目标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已经可以稳定转成单波长 target PSF 和初始 backphase。</a:t>
            </a:r>
          </a:p>
        </p:txBody>
      </p:sp>
      <p:pic>
        <p:nvPicPr>
          <p:cNvPr id="7" name="Picture 6" descr="psf_mapping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21" y="1097280"/>
            <a:ext cx="5675676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2057400"/>
            <a:ext cx="51206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sf_target_cente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82596"/>
            <a:ext cx="4974336" cy="2487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2057400"/>
            <a:ext cx="51206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sf_backphase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892" y="2130552"/>
            <a:ext cx="3191256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Metasurface feasibility probe：代表 kernel 的 PSF 形状可拟合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当前是 first-pass physical feasibility probe，不是最终器件制造结果。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577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00_posi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4878"/>
            <a:ext cx="5431536" cy="33424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051560"/>
            <a:ext cx="4800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tasurface_probe_cosin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511046"/>
            <a:ext cx="4654296" cy="23271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4617720"/>
            <a:ext cx="480060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4617720"/>
            <a:ext cx="54864" cy="777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4690872"/>
            <a:ext cx="45262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5029200"/>
            <a:ext cx="4507992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代表 kernel 的 cosine similarity 在 0.979-0.991，说明目标 PSF 主结构初步可实现。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计算量节省：光学前端的硬件意义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理论上 hybrid electronic backend 相对 teacher 的电子计算可减少到百倍量级以上。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194"/>
            <a:ext cx="5202936" cy="292665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325880"/>
          <a:ext cx="4754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Teacher @256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21.08G MACs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Hybrid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23.3M electronic MACs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vs teacher@256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905x fewer electronic MACs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vs teacher@512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4324A"/>
                          </a:solidFill>
                        </a:rPr>
                        <a:t>3618x fewer electronic MACs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55080" y="4206240"/>
            <a:ext cx="4754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4206240"/>
            <a:ext cx="54864" cy="822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4279392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注意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4617720"/>
            <a:ext cx="4462272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这是理论电子 MAC reduction；实际速度还取决于曝光、读出、ADC、光通量和电子硬件。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小结：已经形成从蒸馏到物理 probe 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路线承担当前高性能主结果角色。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SegDecNet
teacher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0472" y="2212848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202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Optical
student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2212848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High-IoU
mask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90872" y="2212848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06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Kernel
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91072" y="2212848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08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6A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PSF
target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1" y="2212848"/>
            <a:ext cx="384048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Metasurface
probe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91472" y="2212848"/>
            <a:ext cx="384047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828800"/>
            <a:ext cx="1143000" cy="777240"/>
          </a:xfrm>
          <a:prstGeom prst="roundRect">
            <a:avLst/>
          </a:prstGeom>
          <a:solidFill>
            <a:srgbClr val="F5F9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856232"/>
            <a:ext cx="1051560" cy="72237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ctr"/>
            <a:r>
              <a:rPr sz="880" b="1">
                <a:solidFill>
                  <a:srgbClr val="24324A"/>
                </a:solidFill>
                <a:latin typeface="Arial"/>
              </a:rPr>
              <a:t>Compute
reduction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234440" y="3794760"/>
          <a:ext cx="9692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484632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Segmentation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IoU=0.9145, Dice=0.9349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Metasurface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cosine similarity 0.979-0.991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Electronic MAC reduction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324A"/>
                          </a:solidFill>
                        </a:rPr>
                        <a:t>905x fewer vs teacher@256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两个案例对照：从可行 demo 到主结果闭环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验证方法起点，DAGM 验证高性能分割闭环。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Defect scene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Main metric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Fabric / AITEX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织物 patch 缺陷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二分类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F1=0.8571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低分辨率 optical student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DAGM Class7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工业纹理异常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分类 + 像素分割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IoU=0.9145 / Dice=0.9349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4324A"/>
                          </a:solidFill>
                        </a:rPr>
                        <a:t>蒸馏 -&gt; PSF -&gt; probe 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3886200"/>
            <a:ext cx="324612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886200"/>
            <a:ext cx="54864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算法贡献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297680"/>
            <a:ext cx="295351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面向工业缺陷检测设计 optical frontend student。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886200"/>
            <a:ext cx="324612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88620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95935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系统贡献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297680"/>
            <a:ext cx="295351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明确光学卷积 + 电子后端的混合架构边界。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86200"/>
            <a:ext cx="324612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886200"/>
            <a:ext cx="54864" cy="96012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959352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物理贡献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4297680"/>
            <a:ext cx="2953512" cy="484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完成 kernel 到 PSF / metasurface probe 的入口验证。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014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未来工作：从 digital student 走向真实光电闭环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37744"/>
            <a:ext cx="192024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下一阶段重点是把 simulated PSF 放回模型链路评估性能下降。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42519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future_system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723"/>
            <a:ext cx="4105656" cy="229433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66360" y="1234440"/>
          <a:ext cx="6080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80"/>
                <a:gridCol w="30403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Simulated PSF student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用 simulated PSF 替代 learned kernels 重新评估性能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Hardware-aware 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加入噪声、偏移、制造误差和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Physical sweep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优化 wavelength、distance、ROI、iterations 和结构约束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Detection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4324A"/>
                          </a:solidFill>
                        </a:rPr>
                        <a:t>扩展到 YOLO / PCB / wafer / chip defect localization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4800600"/>
            <a:ext cx="1042416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800600"/>
            <a:ext cx="54864" cy="68580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873752"/>
            <a:ext cx="1014984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rmAutofit/>
          </a:bodyPr>
          <a:lstStyle/>
          <a:p>
            <a:pPr algn="l"/>
            <a:r>
              <a:rPr sz="1300" b="1">
                <a:solidFill>
                  <a:srgbClr val="163A6C"/>
                </a:solidFill>
                <a:latin typeface="Arial"/>
              </a:rPr>
              <a:t>最终目标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5212080"/>
            <a:ext cx="10131552" cy="2103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rmAutofit/>
          </a:bodyPr>
          <a:lstStyle/>
          <a:p>
            <a:pPr algn="l"/>
            <a:r>
              <a:rPr sz="1050" b="0">
                <a:solidFill>
                  <a:srgbClr val="24324A"/>
                </a:solidFill>
                <a:latin typeface="Arial"/>
              </a:rPr>
              <a:t>高速、低功耗、可部署的工业质检光电混合系统。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